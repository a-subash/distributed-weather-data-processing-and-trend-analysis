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9"/>
  </p:notesMasterIdLst>
  <p:sldIdLst>
    <p:sldId id="256" r:id="rId3"/>
    <p:sldId id="257" r:id="rId4"/>
    <p:sldId id="267" r:id="rId5"/>
    <p:sldId id="258" r:id="rId6"/>
    <p:sldId id="261" r:id="rId7"/>
    <p:sldId id="259" r:id="rId8"/>
    <p:sldId id="270" r:id="rId9"/>
    <p:sldId id="260" r:id="rId10"/>
    <p:sldId id="266" r:id="rId11"/>
    <p:sldId id="262" r:id="rId12"/>
    <p:sldId id="271" r:id="rId13"/>
    <p:sldId id="268" r:id="rId14"/>
    <p:sldId id="269" r:id="rId15"/>
    <p:sldId id="273" r:id="rId16"/>
    <p:sldId id="263" r:id="rId17"/>
    <p:sldId id="265" r:id="rId18"/>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6C70AF-3D0D-4ED1-A3C0-7CC8F95B75A1}" v="1" dt="2026-04-07T17:52:07.94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a" userId="c228e0e7c514d0c2" providerId="LiveId" clId="{A4909939-5C00-4122-8D50-5E17C8A3DC79}"/>
    <pc:docChg chg="undo custSel modSld">
      <pc:chgData name="s a" userId="c228e0e7c514d0c2" providerId="LiveId" clId="{A4909939-5C00-4122-8D50-5E17C8A3DC79}" dt="2026-04-07T17:55:42.438" v="66" actId="20577"/>
      <pc:docMkLst>
        <pc:docMk/>
      </pc:docMkLst>
      <pc:sldChg chg="modSp mod">
        <pc:chgData name="s a" userId="c228e0e7c514d0c2" providerId="LiveId" clId="{A4909939-5C00-4122-8D50-5E17C8A3DC79}" dt="2026-04-07T17:52:07.939" v="2"/>
        <pc:sldMkLst>
          <pc:docMk/>
          <pc:sldMk cId="0" sldId="256"/>
        </pc:sldMkLst>
        <pc:spChg chg="mod">
          <ac:chgData name="s a" userId="c228e0e7c514d0c2" providerId="LiveId" clId="{A4909939-5C00-4122-8D50-5E17C8A3DC79}" dt="2026-04-07T17:51:42.080" v="1" actId="20577"/>
          <ac:spMkLst>
            <pc:docMk/>
            <pc:sldMk cId="0" sldId="256"/>
            <ac:spMk id="2" creationId="{00000000-0000-0000-0000-000000000000}"/>
          </ac:spMkLst>
        </pc:spChg>
        <pc:spChg chg="mod">
          <ac:chgData name="s a" userId="c228e0e7c514d0c2" providerId="LiveId" clId="{A4909939-5C00-4122-8D50-5E17C8A3DC79}" dt="2026-04-07T17:52:07.939" v="2"/>
          <ac:spMkLst>
            <pc:docMk/>
            <pc:sldMk cId="0" sldId="256"/>
            <ac:spMk id="3" creationId="{00000000-0000-0000-0000-000000000000}"/>
          </ac:spMkLst>
        </pc:spChg>
      </pc:sldChg>
      <pc:sldChg chg="modSp mod">
        <pc:chgData name="s a" userId="c228e0e7c514d0c2" providerId="LiveId" clId="{A4909939-5C00-4122-8D50-5E17C8A3DC79}" dt="2026-04-07T17:54:31.499" v="28" actId="20577"/>
        <pc:sldMkLst>
          <pc:docMk/>
          <pc:sldMk cId="0" sldId="257"/>
        </pc:sldMkLst>
        <pc:spChg chg="mod">
          <ac:chgData name="s a" userId="c228e0e7c514d0c2" providerId="LiveId" clId="{A4909939-5C00-4122-8D50-5E17C8A3DC79}" dt="2026-04-07T17:54:31.499" v="28" actId="20577"/>
          <ac:spMkLst>
            <pc:docMk/>
            <pc:sldMk cId="0" sldId="257"/>
            <ac:spMk id="3" creationId="{00000000-0000-0000-0000-000000000000}"/>
          </ac:spMkLst>
        </pc:spChg>
      </pc:sldChg>
      <pc:sldChg chg="modSp mod">
        <pc:chgData name="s a" userId="c228e0e7c514d0c2" providerId="LiveId" clId="{A4909939-5C00-4122-8D50-5E17C8A3DC79}" dt="2026-04-07T17:54:42.841" v="39" actId="20577"/>
        <pc:sldMkLst>
          <pc:docMk/>
          <pc:sldMk cId="2011599029" sldId="258"/>
        </pc:sldMkLst>
        <pc:spChg chg="mod">
          <ac:chgData name="s a" userId="c228e0e7c514d0c2" providerId="LiveId" clId="{A4909939-5C00-4122-8D50-5E17C8A3DC79}" dt="2026-04-07T17:54:42.841" v="39" actId="20577"/>
          <ac:spMkLst>
            <pc:docMk/>
            <pc:sldMk cId="2011599029" sldId="258"/>
            <ac:spMk id="4" creationId="{6246225C-C486-FED1-DA4D-888BE9F6A86C}"/>
          </ac:spMkLst>
        </pc:spChg>
      </pc:sldChg>
      <pc:sldChg chg="modSp mod">
        <pc:chgData name="s a" userId="c228e0e7c514d0c2" providerId="LiveId" clId="{A4909939-5C00-4122-8D50-5E17C8A3DC79}" dt="2026-04-07T17:54:48.397" v="42" actId="20577"/>
        <pc:sldMkLst>
          <pc:docMk/>
          <pc:sldMk cId="4008404546" sldId="259"/>
        </pc:sldMkLst>
        <pc:spChg chg="mod">
          <ac:chgData name="s a" userId="c228e0e7c514d0c2" providerId="LiveId" clId="{A4909939-5C00-4122-8D50-5E17C8A3DC79}" dt="2026-04-07T17:54:48.397" v="42" actId="20577"/>
          <ac:spMkLst>
            <pc:docMk/>
            <pc:sldMk cId="4008404546" sldId="259"/>
            <ac:spMk id="10" creationId="{EB56FACB-3BE6-7710-5AF6-30246594A4B1}"/>
          </ac:spMkLst>
        </pc:spChg>
      </pc:sldChg>
      <pc:sldChg chg="modSp mod">
        <pc:chgData name="s a" userId="c228e0e7c514d0c2" providerId="LiveId" clId="{A4909939-5C00-4122-8D50-5E17C8A3DC79}" dt="2026-04-07T17:55:13.927" v="46" actId="14100"/>
        <pc:sldMkLst>
          <pc:docMk/>
          <pc:sldMk cId="361088173" sldId="260"/>
        </pc:sldMkLst>
        <pc:graphicFrameChg chg="modGraphic">
          <ac:chgData name="s a" userId="c228e0e7c514d0c2" providerId="LiveId" clId="{A4909939-5C00-4122-8D50-5E17C8A3DC79}" dt="2026-04-07T17:55:13.927" v="46" actId="14100"/>
          <ac:graphicFrameMkLst>
            <pc:docMk/>
            <pc:sldMk cId="361088173" sldId="260"/>
            <ac:graphicFrameMk id="3" creationId="{9E0910E8-64C1-D3C8-E650-99B21DBB429D}"/>
          </ac:graphicFrameMkLst>
        </pc:graphicFrameChg>
      </pc:sldChg>
      <pc:sldChg chg="modSp mod">
        <pc:chgData name="s a" userId="c228e0e7c514d0c2" providerId="LiveId" clId="{A4909939-5C00-4122-8D50-5E17C8A3DC79}" dt="2026-04-07T17:55:42.438" v="66" actId="20577"/>
        <pc:sldMkLst>
          <pc:docMk/>
          <pc:sldMk cId="0" sldId="265"/>
        </pc:sldMkLst>
        <pc:spChg chg="mod">
          <ac:chgData name="s a" userId="c228e0e7c514d0c2" providerId="LiveId" clId="{A4909939-5C00-4122-8D50-5E17C8A3DC79}" dt="2026-04-07T17:55:42.438" v="66" actId="20577"/>
          <ac:spMkLst>
            <pc:docMk/>
            <pc:sldMk cId="0" sldId="265"/>
            <ac:spMk id="4" creationId="{AB03FB2E-4E33-CA9A-E5FC-A215D8D28E40}"/>
          </ac:spMkLst>
        </pc:spChg>
      </pc:sldChg>
      <pc:sldChg chg="modSp mod">
        <pc:chgData name="s a" userId="c228e0e7c514d0c2" providerId="LiveId" clId="{A4909939-5C00-4122-8D50-5E17C8A3DC79}" dt="2026-04-07T17:55:18.320" v="48" actId="20577"/>
        <pc:sldMkLst>
          <pc:docMk/>
          <pc:sldMk cId="749269248" sldId="266"/>
        </pc:sldMkLst>
        <pc:spChg chg="mod">
          <ac:chgData name="s a" userId="c228e0e7c514d0c2" providerId="LiveId" clId="{A4909939-5C00-4122-8D50-5E17C8A3DC79}" dt="2026-04-07T17:55:18.320" v="48" actId="20577"/>
          <ac:spMkLst>
            <pc:docMk/>
            <pc:sldMk cId="749269248" sldId="266"/>
            <ac:spMk id="10" creationId="{E2C2AA91-0575-402D-E032-7D6EDDE874A6}"/>
          </ac:spMkLst>
        </pc:spChg>
      </pc:sldChg>
      <pc:sldChg chg="modSp mod">
        <pc:chgData name="s a" userId="c228e0e7c514d0c2" providerId="LiveId" clId="{A4909939-5C00-4122-8D50-5E17C8A3DC79}" dt="2026-04-07T17:54:38.490" v="36" actId="20577"/>
        <pc:sldMkLst>
          <pc:docMk/>
          <pc:sldMk cId="2762181122" sldId="267"/>
        </pc:sldMkLst>
        <pc:spChg chg="mod">
          <ac:chgData name="s a" userId="c228e0e7c514d0c2" providerId="LiveId" clId="{A4909939-5C00-4122-8D50-5E17C8A3DC79}" dt="2026-04-07T17:54:38.490" v="36" actId="20577"/>
          <ac:spMkLst>
            <pc:docMk/>
            <pc:sldMk cId="2762181122" sldId="267"/>
            <ac:spMk id="5" creationId="{B69E491E-E456-4953-90A1-548E280A9DC7}"/>
          </ac:spMkLst>
        </pc:spChg>
      </pc:sldChg>
      <pc:sldChg chg="modSp mod">
        <pc:chgData name="s a" userId="c228e0e7c514d0c2" providerId="LiveId" clId="{A4909939-5C00-4122-8D50-5E17C8A3DC79}" dt="2026-04-07T17:54:56.563" v="44" actId="20577"/>
        <pc:sldMkLst>
          <pc:docMk/>
          <pc:sldMk cId="2291525226" sldId="270"/>
        </pc:sldMkLst>
        <pc:spChg chg="mod">
          <ac:chgData name="s a" userId="c228e0e7c514d0c2" providerId="LiveId" clId="{A4909939-5C00-4122-8D50-5E17C8A3DC79}" dt="2026-04-07T17:54:56.563" v="44" actId="20577"/>
          <ac:spMkLst>
            <pc:docMk/>
            <pc:sldMk cId="2291525226" sldId="270"/>
            <ac:spMk id="5" creationId="{BB319E5B-6E2E-4574-8F1C-BC8CB7A1B50D}"/>
          </ac:spMkLst>
        </pc:spChg>
      </pc:sldChg>
      <pc:sldChg chg="modSp mod">
        <pc:chgData name="s a" userId="c228e0e7c514d0c2" providerId="LiveId" clId="{A4909939-5C00-4122-8D50-5E17C8A3DC79}" dt="2026-04-07T17:55:26.172" v="56" actId="20577"/>
        <pc:sldMkLst>
          <pc:docMk/>
          <pc:sldMk cId="2598071038" sldId="271"/>
        </pc:sldMkLst>
        <pc:spChg chg="mod">
          <ac:chgData name="s a" userId="c228e0e7c514d0c2" providerId="LiveId" clId="{A4909939-5C00-4122-8D50-5E17C8A3DC79}" dt="2026-04-07T17:55:26.172" v="56" actId="20577"/>
          <ac:spMkLst>
            <pc:docMk/>
            <pc:sldMk cId="2598071038" sldId="271"/>
            <ac:spMk id="5" creationId="{6EB3560F-9F93-44D1-9B18-5A4181169474}"/>
          </ac:spMkLst>
        </pc:spChg>
      </pc:sldChg>
      <pc:sldChg chg="addSp delSp modSp mod">
        <pc:chgData name="s a" userId="c228e0e7c514d0c2" providerId="LiveId" clId="{A4909939-5C00-4122-8D50-5E17C8A3DC79}" dt="2026-04-07T17:55:36.038" v="64" actId="20577"/>
        <pc:sldMkLst>
          <pc:docMk/>
          <pc:sldMk cId="1066294694" sldId="273"/>
        </pc:sldMkLst>
        <pc:spChg chg="mod">
          <ac:chgData name="s a" userId="c228e0e7c514d0c2" providerId="LiveId" clId="{A4909939-5C00-4122-8D50-5E17C8A3DC79}" dt="2026-04-07T17:55:36.038" v="64" actId="20577"/>
          <ac:spMkLst>
            <pc:docMk/>
            <pc:sldMk cId="1066294694" sldId="273"/>
            <ac:spMk id="5" creationId="{ED012446-0208-49A5-B980-002359136443}"/>
          </ac:spMkLst>
        </pc:spChg>
        <pc:spChg chg="add del">
          <ac:chgData name="s a" userId="c228e0e7c514d0c2" providerId="LiveId" clId="{A4909939-5C00-4122-8D50-5E17C8A3DC79}" dt="2026-04-07T17:52:25.966" v="9" actId="22"/>
          <ac:spMkLst>
            <pc:docMk/>
            <pc:sldMk cId="1066294694" sldId="273"/>
            <ac:spMk id="8" creationId="{8BED4E62-098B-0CB9-8C02-C602D1313B9A}"/>
          </ac:spMkLst>
        </pc:spChg>
        <pc:picChg chg="add mod">
          <ac:chgData name="s a" userId="c228e0e7c514d0c2" providerId="LiveId" clId="{A4909939-5C00-4122-8D50-5E17C8A3DC79}" dt="2026-04-07T17:53:04.946" v="18" actId="1076"/>
          <ac:picMkLst>
            <pc:docMk/>
            <pc:sldMk cId="1066294694" sldId="273"/>
            <ac:picMk id="10" creationId="{B5896A2C-C561-FCB4-AFFA-AE95A38E2B9D}"/>
          </ac:picMkLst>
        </pc:picChg>
        <pc:picChg chg="del">
          <ac:chgData name="s a" userId="c228e0e7c514d0c2" providerId="LiveId" clId="{A4909939-5C00-4122-8D50-5E17C8A3DC79}" dt="2026-04-07T17:52:16.862" v="3" actId="478"/>
          <ac:picMkLst>
            <pc:docMk/>
            <pc:sldMk cId="1066294694" sldId="273"/>
            <ac:picMk id="12" creationId="{B37C224C-EA61-43A4-AA0B-8AECA71FC422}"/>
          </ac:picMkLst>
        </pc:picChg>
        <pc:picChg chg="add del mod">
          <ac:chgData name="s a" userId="c228e0e7c514d0c2" providerId="LiveId" clId="{A4909939-5C00-4122-8D50-5E17C8A3DC79}" dt="2026-04-07T17:53:44.371" v="21" actId="478"/>
          <ac:picMkLst>
            <pc:docMk/>
            <pc:sldMk cId="1066294694" sldId="273"/>
            <ac:picMk id="13" creationId="{4E4103A7-EE07-B095-F2CB-B5CAC71B04BB}"/>
          </ac:picMkLst>
        </pc:picChg>
        <pc:picChg chg="del">
          <ac:chgData name="s a" userId="c228e0e7c514d0c2" providerId="LiveId" clId="{A4909939-5C00-4122-8D50-5E17C8A3DC79}" dt="2026-04-07T17:52:18.566" v="4" actId="478"/>
          <ac:picMkLst>
            <pc:docMk/>
            <pc:sldMk cId="1066294694" sldId="273"/>
            <ac:picMk id="14" creationId="{8CCB589A-E2F7-486F-8CEF-CE7CA072EED5}"/>
          </ac:picMkLst>
        </pc:picChg>
        <pc:picChg chg="del">
          <ac:chgData name="s a" userId="c228e0e7c514d0c2" providerId="LiveId" clId="{A4909939-5C00-4122-8D50-5E17C8A3DC79}" dt="2026-04-07T17:52:23.091" v="7" actId="478"/>
          <ac:picMkLst>
            <pc:docMk/>
            <pc:sldMk cId="1066294694" sldId="273"/>
            <ac:picMk id="16" creationId="{E4F93033-8F86-485C-B4CA-CCBFEAC5D719}"/>
          </ac:picMkLst>
        </pc:picChg>
        <pc:picChg chg="add mod">
          <ac:chgData name="s a" userId="c228e0e7c514d0c2" providerId="LiveId" clId="{A4909939-5C00-4122-8D50-5E17C8A3DC79}" dt="2026-04-07T17:54:02.347" v="24" actId="1076"/>
          <ac:picMkLst>
            <pc:docMk/>
            <pc:sldMk cId="1066294694" sldId="273"/>
            <ac:picMk id="17" creationId="{DF07EFE2-999E-A3D6-1C7B-75D576125416}"/>
          </ac:picMkLst>
        </pc:picChg>
        <pc:picChg chg="del">
          <ac:chgData name="s a" userId="c228e0e7c514d0c2" providerId="LiveId" clId="{A4909939-5C00-4122-8D50-5E17C8A3DC79}" dt="2026-04-07T17:52:21.775" v="6" actId="478"/>
          <ac:picMkLst>
            <pc:docMk/>
            <pc:sldMk cId="1066294694" sldId="273"/>
            <ac:picMk id="18" creationId="{1B85FCBA-F33F-4662-A0EC-77F6A80BB8D3}"/>
          </ac:picMkLst>
        </pc:picChg>
        <pc:picChg chg="del">
          <ac:chgData name="s a" userId="c228e0e7c514d0c2" providerId="LiveId" clId="{A4909939-5C00-4122-8D50-5E17C8A3DC79}" dt="2026-04-07T17:52:20.231" v="5" actId="478"/>
          <ac:picMkLst>
            <pc:docMk/>
            <pc:sldMk cId="1066294694" sldId="273"/>
            <ac:picMk id="20" creationId="{1BE0C24F-AA81-4BA8-88F7-06E60C83508F}"/>
          </ac:picMkLst>
        </pc:picChg>
        <pc:picChg chg="add mod">
          <ac:chgData name="s a" userId="c228e0e7c514d0c2" providerId="LiveId" clId="{A4909939-5C00-4122-8D50-5E17C8A3DC79}" dt="2026-04-07T17:54:08.999" v="26" actId="14100"/>
          <ac:picMkLst>
            <pc:docMk/>
            <pc:sldMk cId="1066294694" sldId="273"/>
            <ac:picMk id="21" creationId="{DB0A8B66-DD81-9717-68BD-AE41641B2A8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4/7/2026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07-04-2026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07-04-2026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07-04-2026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07-04-2026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07-04-2026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07-04-2026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07-04-2026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07-04-2026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07-04-2026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07-04-2026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07-04-2026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1709.03546" TargetMode="External"/><Relationship Id="rId7" Type="http://schemas.openxmlformats.org/officeDocument/2006/relationships/hyperlink" Target="https://link.springer.com/article/10.1007/s00521-020-04762-8"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22094" TargetMode="External"/><Relationship Id="rId5" Type="http://schemas.openxmlformats.org/officeDocument/2006/relationships/hyperlink" Target="https://ieeexplore.ieee.org/document/7488251" TargetMode="External"/><Relationship Id="rId4" Type="http://schemas.openxmlformats.org/officeDocument/2006/relationships/hyperlink" Target="https://arxiv.org/abs/1802.00316"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ieeexplore.ieee.org/document/611314" TargetMode="External"/><Relationship Id="rId7" Type="http://schemas.openxmlformats.org/officeDocument/2006/relationships/hyperlink" Target="https://dl.acm.org/doi/10.1145/3183713.319690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link.springer.com/chapter/10.1007/978-3-319-59888-8_7" TargetMode="External"/><Relationship Id="rId5" Type="http://schemas.openxmlformats.org/officeDocument/2006/relationships/hyperlink" Target="https://spark.apache.org/research.html" TargetMode="External"/><Relationship Id="rId4" Type="http://schemas.openxmlformats.org/officeDocument/2006/relationships/hyperlink" Target="https://research.google/pubs/pub62/"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28519" y="790877"/>
            <a:ext cx="10515600" cy="1128395"/>
          </a:xfrm>
        </p:spPr>
        <p:txBody>
          <a:bodyPr>
            <a:noAutofit/>
          </a:bodyPr>
          <a:lstStyle/>
          <a:p>
            <a:pPr algn="ctr">
              <a:lnSpc>
                <a:spcPct val="100000"/>
              </a:lnSpc>
            </a:pPr>
            <a:r>
              <a:rPr lang="en-US" sz="3200" dirty="0">
                <a:solidFill>
                  <a:schemeClr val="accent1">
                    <a:lumMod val="60000"/>
                    <a:lumOff val="40000"/>
                  </a:schemeClr>
                </a:solidFill>
                <a:latin typeface="Times New Roman" panose="02020603050405020304" pitchFamily="18" charset="0"/>
                <a:cs typeface="Times New Roman" panose="02020603050405020304" pitchFamily="18" charset="0"/>
              </a:rPr>
              <a:t>Distributed Weather Data Processing and Trend Analysis</a:t>
            </a:r>
            <a:b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32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3</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2320030207    A. Subash</a:t>
            </a:r>
          </a:p>
          <a:p>
            <a:pPr marL="0" indent="0" algn="just">
              <a:buNone/>
            </a:pPr>
            <a:r>
              <a:rPr lang="en-US" sz="2000" dirty="0">
                <a:latin typeface="Times New Roman" panose="02020603050405020304" pitchFamily="18" charset="0"/>
                <a:cs typeface="Times New Roman" panose="02020603050405020304" pitchFamily="18" charset="0"/>
              </a:rPr>
              <a:t>                                                            2320030208    C. </a:t>
            </a:r>
            <a:r>
              <a:rPr lang="en-US" sz="2000" dirty="0" err="1">
                <a:latin typeface="Times New Roman" panose="02020603050405020304" pitchFamily="18" charset="0"/>
                <a:cs typeface="Times New Roman" panose="02020603050405020304" pitchFamily="18" charset="0"/>
              </a:rPr>
              <a:t>Saisandeep</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2320030164     G. Rohith Sai</a:t>
            </a:r>
          </a:p>
          <a:p>
            <a:pPr marL="0" indent="0" algn="just">
              <a:buNone/>
            </a:pPr>
            <a:r>
              <a:rPr lang="en-US" sz="2000" dirty="0" err="1">
                <a:latin typeface="Times New Roman" panose="02020603050405020304" pitchFamily="18" charset="0"/>
                <a:cs typeface="Times New Roman" panose="02020603050405020304" pitchFamily="18" charset="0"/>
              </a:rPr>
              <a:t>i</a:t>
            </a:r>
            <a:endParaRPr lang="en-US" sz="2000" dirty="0">
              <a:latin typeface="Times New Roman" panose="02020603050405020304" pitchFamily="18" charset="0"/>
              <a:cs typeface="Times New Roman" panose="02020603050405020304" pitchFamily="18" charset="0"/>
            </a:endParaRP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07-04-2026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343152"/>
            <a:ext cx="10515600" cy="5013197"/>
          </a:xfrm>
        </p:spPr>
        <p:txBody>
          <a:bodyPr>
            <a:normAutofit fontScale="92500" lnSpcReduction="10000"/>
          </a:bodyPr>
          <a:lstStyle/>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Module wise Implementations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Comparison and Discussion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Architecture</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Module Design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Results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07-04-2026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3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7E42-9C2D-4DE5-B188-1A67A1A3781D}"/>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74163D-8A8D-4673-886D-949EFB4AC7F1}"/>
              </a:ext>
            </a:extLst>
          </p:cNvPr>
          <p:cNvSpPr>
            <a:spLocks noGrp="1"/>
          </p:cNvSpPr>
          <p:nvPr>
            <p:ph idx="1"/>
          </p:nvPr>
        </p:nvSpPr>
        <p:spPr>
          <a:xfrm>
            <a:off x="838200" y="1900237"/>
            <a:ext cx="10515600" cy="4029076"/>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In today's data-driven world, weather monitoring generates massive volumes of continuous data from thousands of global sensors and stations, demanding scalable and efficient processing systems beyond the capability of traditional centralized architectures. This project, </a:t>
            </a:r>
            <a:r>
              <a:rPr lang="en-US" sz="2200" b="1" dirty="0">
                <a:latin typeface="Times New Roman" panose="02020603050405020304" pitchFamily="18" charset="0"/>
                <a:cs typeface="Times New Roman" panose="02020603050405020304" pitchFamily="18" charset="0"/>
              </a:rPr>
              <a:t>"Distributed Weather Data Processing and Trend Analysis,"</a:t>
            </a:r>
            <a:r>
              <a:rPr lang="en-US" sz="2200" dirty="0">
                <a:latin typeface="Times New Roman" panose="02020603050405020304" pitchFamily="18" charset="0"/>
                <a:cs typeface="Times New Roman" panose="02020603050405020304" pitchFamily="18" charset="0"/>
              </a:rPr>
              <a:t> presents a real-time Big Data web application that simulates a production-grade distributed pipeline where 8 global city nodes stream live weather data through Apache Kafka, which is then processed and analyzed by Apache Spark for anomaly detection and trend computation, stored in HDFS for distributed persistence, and visualized through an interactive dashboard built with React and Recharts - further enhanced by real-time live city-based weather analysis powered by the </a:t>
            </a:r>
            <a:r>
              <a:rPr lang="en-US" sz="2200" dirty="0" err="1">
                <a:latin typeface="Times New Roman" panose="02020603050405020304" pitchFamily="18" charset="0"/>
                <a:cs typeface="Times New Roman" panose="02020603050405020304" pitchFamily="18" charset="0"/>
              </a:rPr>
              <a:t>OpenWeatherMap</a:t>
            </a:r>
            <a:r>
              <a:rPr lang="en-US" sz="2200" dirty="0">
                <a:latin typeface="Times New Roman" panose="02020603050405020304" pitchFamily="18" charset="0"/>
                <a:cs typeface="Times New Roman" panose="02020603050405020304" pitchFamily="18" charset="0"/>
              </a:rPr>
              <a:t> API, making it a fully functional, scalable, and realistic Big Data solution.</a:t>
            </a:r>
            <a:endParaRPr lang="en-IN"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B4A4403-405E-4F2E-9A2A-41A12C98990E}"/>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B69E491E-E456-4953-90A1-548E280A9DC7}"/>
              </a:ext>
            </a:extLst>
          </p:cNvPr>
          <p:cNvSpPr>
            <a:spLocks noGrp="1"/>
          </p:cNvSpPr>
          <p:nvPr>
            <p:ph type="ftr" sz="quarter" idx="11"/>
          </p:nvPr>
        </p:nvSpPr>
        <p:spPr/>
        <p:txBody>
          <a:bodyPr/>
          <a:lstStyle/>
          <a:p>
            <a:r>
              <a:rPr lang="en-US" dirty="0"/>
              <a:t>REVIEW – 3    173030211    Department of CSE</a:t>
            </a:r>
          </a:p>
        </p:txBody>
      </p:sp>
      <p:sp>
        <p:nvSpPr>
          <p:cNvPr id="6" name="Slide Number Placeholder 5">
            <a:extLst>
              <a:ext uri="{FF2B5EF4-FFF2-40B4-BE49-F238E27FC236}">
                <a16:creationId xmlns:a16="http://schemas.microsoft.com/office/drawing/2014/main" id="{8E8B2236-9ED8-49FA-A47A-D9D962C0B623}"/>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6218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Weather data is one of the most continuously generated, high-volume datasets in the world, yet traditional centralized weather monitoring systems struggle to handle the massive scale, speed, and variety of data coming from multiple global sources simultaneously - leading to bottlenecks, data loss, and delayed insights. To solve this, we built </a:t>
            </a:r>
            <a:r>
              <a:rPr lang="en-US" sz="2200" b="1" dirty="0">
                <a:latin typeface="Times New Roman" panose="02020603050405020304" pitchFamily="18" charset="0"/>
                <a:cs typeface="Times New Roman" panose="02020603050405020304" pitchFamily="18" charset="0"/>
              </a:rPr>
              <a:t>Distributed Weather Data Processing and Trend Analysis</a:t>
            </a:r>
            <a:r>
              <a:rPr lang="en-US" sz="2200" dirty="0">
                <a:latin typeface="Times New Roman" panose="02020603050405020304" pitchFamily="18" charset="0"/>
                <a:cs typeface="Times New Roman" panose="02020603050405020304" pitchFamily="18" charset="0"/>
              </a:rPr>
              <a:t>, a real-time Big Data web application that collects live weather streams from 8 distributed global city nodes, processes them through a pipeline powered by Apache Kafka, Apache Spark, and HDFS, and visualizes trends, anomalies, and forecasts on an interactive dashboard - with real-time city-based weather analysis powered by the </a:t>
            </a:r>
            <a:r>
              <a:rPr lang="en-US" sz="2200" dirty="0" err="1">
                <a:latin typeface="Times New Roman" panose="02020603050405020304" pitchFamily="18" charset="0"/>
                <a:cs typeface="Times New Roman" panose="02020603050405020304" pitchFamily="18" charset="0"/>
              </a:rPr>
              <a:t>OpenWeatherMap</a:t>
            </a:r>
            <a:r>
              <a:rPr lang="en-US" sz="2200" dirty="0">
                <a:latin typeface="Times New Roman" panose="02020603050405020304" pitchFamily="18" charset="0"/>
                <a:cs typeface="Times New Roman" panose="02020603050405020304" pitchFamily="18" charset="0"/>
              </a:rPr>
              <a:t> API, making it a fully functional, scalable, and production-realistic Big Data solution.</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07-04-2026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3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007"/>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07-04-2026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9" name="Picture 8">
            <a:extLst>
              <a:ext uri="{FF2B5EF4-FFF2-40B4-BE49-F238E27FC236}">
                <a16:creationId xmlns:a16="http://schemas.microsoft.com/office/drawing/2014/main" id="{5E5AF7F4-2DCA-3C9C-1D7E-1890766CF589}"/>
              </a:ext>
            </a:extLst>
          </p:cNvPr>
          <p:cNvPicPr>
            <a:picLocks noChangeAspect="1"/>
          </p:cNvPicPr>
          <p:nvPr/>
        </p:nvPicPr>
        <p:blipFill>
          <a:blip r:embed="rId3"/>
          <a:stretch>
            <a:fillRect/>
          </a:stretch>
        </p:blipFill>
        <p:spPr>
          <a:xfrm>
            <a:off x="838200" y="1288491"/>
            <a:ext cx="10287000" cy="5432984"/>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0" indent="0">
              <a:buNone/>
            </a:pPr>
            <a:endParaRPr 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ingest real-time weather streams from 8 distributed global city nodes simultaneously</a:t>
            </a:r>
          </a:p>
          <a:p>
            <a:pPr marL="457200" lvl="0" indent="-457200" eaLnBrk="0" fontAlgn="base" hangingPunct="0">
              <a:lnSpc>
                <a:spcPct val="100000"/>
              </a:lnSpc>
              <a:spcBef>
                <a:spcPct val="0"/>
              </a:spcBef>
              <a:spcAft>
                <a:spcPct val="0"/>
              </a:spcAft>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detect weather anomalies like temperature spikes and pressure drops instantly</a:t>
            </a:r>
          </a:p>
          <a:p>
            <a:pPr marL="457200" lvl="0" indent="-4572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visualize live trends, forecasts, and historical patterns through an interactive dashboard</a:t>
            </a:r>
          </a:p>
          <a:p>
            <a:pPr marL="457200" lvl="0" indent="-4572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enable real-time location-based weather analysis for any city using </a:t>
            </a:r>
            <a:r>
              <a:rPr lang="en-US" sz="2000" dirty="0" err="1">
                <a:latin typeface="Times New Roman" panose="02020603050405020304" pitchFamily="18" charset="0"/>
                <a:cs typeface="Times New Roman" panose="02020603050405020304" pitchFamily="18" charset="0"/>
              </a:rPr>
              <a:t>OpenWeatherMap</a:t>
            </a:r>
            <a:r>
              <a:rPr lang="en-US" sz="2000" dirty="0">
                <a:latin typeface="Times New Roman" panose="02020603050405020304" pitchFamily="18" charset="0"/>
                <a:cs typeface="Times New Roman" panose="02020603050405020304" pitchFamily="18" charset="0"/>
              </a:rPr>
              <a:t> API.</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07-04-2026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3   </a:t>
            </a:r>
          </a:p>
        </p:txBody>
      </p:sp>
    </p:spTree>
    <p:extLst>
      <p:ext uri="{BB962C8B-B14F-4D97-AF65-F5344CB8AC3E}">
        <p14:creationId xmlns:p14="http://schemas.microsoft.com/office/powerpoint/2010/main" val="400840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0503-14A4-4288-A690-9D67C167130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Module-wise Implementations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00305E-4301-4E9F-B316-2364BB243336}"/>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Module 1</a:t>
            </a:r>
            <a:r>
              <a:rPr lang="en-IN" sz="2400" dirty="0">
                <a:latin typeface="Times New Roman" panose="02020603050405020304" pitchFamily="18" charset="0"/>
                <a:cs typeface="Times New Roman" panose="02020603050405020304" pitchFamily="18" charset="0"/>
              </a:rPr>
              <a:t>: Log Data Collection Collect web server log file</a:t>
            </a:r>
          </a:p>
          <a:p>
            <a:r>
              <a:rPr lang="en-IN" sz="2400" b="1" dirty="0">
                <a:latin typeface="Times New Roman" panose="02020603050405020304" pitchFamily="18" charset="0"/>
                <a:cs typeface="Times New Roman" panose="02020603050405020304" pitchFamily="18" charset="0"/>
              </a:rPr>
              <a:t>Module 2</a:t>
            </a:r>
            <a:r>
              <a:rPr lang="en-IN" sz="2400" dirty="0">
                <a:latin typeface="Times New Roman" panose="02020603050405020304" pitchFamily="18" charset="0"/>
                <a:cs typeface="Times New Roman" panose="02020603050405020304" pitchFamily="18" charset="0"/>
              </a:rPr>
              <a:t>: Data Pre-processing Clean and filter log data. Convert raw logs into structured format.</a:t>
            </a:r>
          </a:p>
          <a:p>
            <a:r>
              <a:rPr lang="en-IN" sz="2400" b="1" dirty="0">
                <a:latin typeface="Times New Roman" panose="02020603050405020304" pitchFamily="18" charset="0"/>
                <a:cs typeface="Times New Roman" panose="02020603050405020304" pitchFamily="18" charset="0"/>
              </a:rPr>
              <a:t>Module 3</a:t>
            </a:r>
            <a:r>
              <a:rPr lang="en-IN" sz="2400" dirty="0">
                <a:latin typeface="Times New Roman" panose="02020603050405020304" pitchFamily="18" charset="0"/>
                <a:cs typeface="Times New Roman" panose="02020603050405020304" pitchFamily="18" charset="0"/>
              </a:rPr>
              <a:t>: Data Processing (Apache Spark)Process large log data using Spark.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traffic, status codes, and user activity.</a:t>
            </a:r>
          </a:p>
          <a:p>
            <a:r>
              <a:rPr lang="en-IN" sz="2400" b="1" dirty="0">
                <a:latin typeface="Times New Roman" panose="02020603050405020304" pitchFamily="18" charset="0"/>
                <a:cs typeface="Times New Roman" panose="02020603050405020304" pitchFamily="18" charset="0"/>
              </a:rPr>
              <a:t>Module 4</a:t>
            </a:r>
            <a:r>
              <a:rPr lang="en-IN" sz="2400" dirty="0">
                <a:latin typeface="Times New Roman" panose="02020603050405020304" pitchFamily="18" charset="0"/>
                <a:cs typeface="Times New Roman" panose="02020603050405020304" pitchFamily="18" charset="0"/>
              </a:rPr>
              <a:t>: Visualization Dashboard Visualize results using charts and graphs. Display traffic trends and error analysis.</a:t>
            </a:r>
          </a:p>
          <a:p>
            <a:r>
              <a:rPr lang="en-IN" sz="2400" b="1" dirty="0">
                <a:latin typeface="Times New Roman" panose="02020603050405020304" pitchFamily="18" charset="0"/>
                <a:cs typeface="Times New Roman" panose="02020603050405020304" pitchFamily="18" charset="0"/>
              </a:rPr>
              <a:t>Module 5</a:t>
            </a:r>
            <a:r>
              <a:rPr lang="en-IN" sz="2400" dirty="0">
                <a:latin typeface="Times New Roman" panose="02020603050405020304" pitchFamily="18" charset="0"/>
                <a:cs typeface="Times New Roman" panose="02020603050405020304" pitchFamily="18" charset="0"/>
              </a:rPr>
              <a:t>: Anomaly Detection Detect unusual traffic and suspicious IP Activity. Identify error patterns and server issues.es (Apache/Nginx).Store log data in HDFS or local storage.</a:t>
            </a:r>
          </a:p>
        </p:txBody>
      </p:sp>
      <p:sp>
        <p:nvSpPr>
          <p:cNvPr id="4" name="Date Placeholder 3">
            <a:extLst>
              <a:ext uri="{FF2B5EF4-FFF2-40B4-BE49-F238E27FC236}">
                <a16:creationId xmlns:a16="http://schemas.microsoft.com/office/drawing/2014/main" id="{9632753C-8F84-474E-8C28-1293575739DF}"/>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BB319E5B-6E2E-4574-8F1C-BC8CB7A1B50D}"/>
              </a:ext>
            </a:extLst>
          </p:cNvPr>
          <p:cNvSpPr>
            <a:spLocks noGrp="1"/>
          </p:cNvSpPr>
          <p:nvPr>
            <p:ph type="ftr" sz="quarter" idx="11"/>
          </p:nvPr>
        </p:nvSpPr>
        <p:spPr/>
        <p:txBody>
          <a:bodyPr/>
          <a:lstStyle/>
          <a:p>
            <a:r>
              <a:rPr lang="en-US" dirty="0"/>
              <a:t>REVIEW – 3    173030211    Department of CSE</a:t>
            </a:r>
          </a:p>
        </p:txBody>
      </p:sp>
      <p:sp>
        <p:nvSpPr>
          <p:cNvPr id="6" name="Slide Number Placeholder 5">
            <a:extLst>
              <a:ext uri="{FF2B5EF4-FFF2-40B4-BE49-F238E27FC236}">
                <a16:creationId xmlns:a16="http://schemas.microsoft.com/office/drawing/2014/main" id="{524E97C8-BFF3-43A3-9258-C7E561587B3A}"/>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229152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608183"/>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07-04-2026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3553941652"/>
              </p:ext>
            </p:extLst>
          </p:nvPr>
        </p:nvGraphicFramePr>
        <p:xfrm>
          <a:off x="188359" y="608183"/>
          <a:ext cx="11815281" cy="6267994"/>
        </p:xfrm>
        <a:graphic>
          <a:graphicData uri="http://schemas.openxmlformats.org/drawingml/2006/table">
            <a:tbl>
              <a:tblPr/>
              <a:tblGrid>
                <a:gridCol w="2917824">
                  <a:extLst>
                    <a:ext uri="{9D8B030D-6E8A-4147-A177-3AD203B41FA5}">
                      <a16:colId xmlns:a16="http://schemas.microsoft.com/office/drawing/2014/main" val="2914338365"/>
                    </a:ext>
                  </a:extLst>
                </a:gridCol>
                <a:gridCol w="2965819">
                  <a:extLst>
                    <a:ext uri="{9D8B030D-6E8A-4147-A177-3AD203B41FA5}">
                      <a16:colId xmlns:a16="http://schemas.microsoft.com/office/drawing/2014/main" val="84625793"/>
                    </a:ext>
                  </a:extLst>
                </a:gridCol>
                <a:gridCol w="2965819">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24394">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09041">
                <a:tc>
                  <a:txBody>
                    <a:bodyPr/>
                    <a:lstStyle/>
                    <a:p>
                      <a:r>
                        <a:rPr lang="en-US" dirty="0">
                          <a:latin typeface="Times New Roman" panose="02020603050405020304" pitchFamily="18" charset="0"/>
                          <a:cs typeface="Times New Roman" panose="02020603050405020304" pitchFamily="18" charset="0"/>
                        </a:rPr>
                        <a:t>Real-Time Weather Monitoring Using Distributed Systems</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https://arxiv.org/abs/1709.03546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High latency due to centralized data collection and lack of real-time stream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Can be extended using distributed streaming frameworks like Kafka for low-latency ingestion.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09041">
                <a:tc>
                  <a:txBody>
                    <a:bodyPr/>
                    <a:lstStyle/>
                    <a:p>
                      <a:pPr>
                        <a:buNone/>
                      </a:pPr>
                      <a:r>
                        <a:rPr lang="en-US" dirty="0">
                          <a:latin typeface="Times New Roman" panose="02020603050405020304" pitchFamily="18" charset="0"/>
                          <a:cs typeface="Times New Roman" panose="02020603050405020304" pitchFamily="18" charset="0"/>
                        </a:rPr>
                        <a:t>Apache Spark for Large-Scale Weather Data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hlinkClick r:id="rId4"/>
                        </a:rPr>
                        <a:t>https://arxiv.org/abs/1802.00316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Requires high memory resources and complex cluster configuration for weather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Optimization using cloud-based deployment and auto-scaling Spark clusters.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890077">
                <a:tc>
                  <a:txBody>
                    <a:bodyPr/>
                    <a:lstStyle/>
                    <a:p>
                      <a:r>
                        <a:rPr lang="en-US" dirty="0">
                          <a:latin typeface="Times New Roman" panose="02020603050405020304" pitchFamily="18" charset="0"/>
                          <a:cs typeface="Times New Roman" panose="02020603050405020304" pitchFamily="18" charset="0"/>
                        </a:rPr>
                        <a:t>Big Data Analytics for Climate and Weather Patterns</a:t>
                      </a:r>
                      <a:endParaRPr lang="da-DK"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https://ieeexplore.ieee.org/document/7488251</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Limited to historical data analysis and lacks real-time anomaly detection capabilities.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Integration with live weather streams for dynamic trend and anomaly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77602">
                <a:tc>
                  <a:txBody>
                    <a:bodyPr/>
                    <a:lstStyle/>
                    <a:p>
                      <a:r>
                        <a:rPr lang="en-US" dirty="0">
                          <a:latin typeface="Times New Roman" panose="02020603050405020304" pitchFamily="18" charset="0"/>
                          <a:cs typeface="Times New Roman" panose="02020603050405020304" pitchFamily="18" charset="0"/>
                        </a:rPr>
                        <a:t>Distributed Sensor Data Processing Using Hadoop</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https://www.sciencedirect.com/science/article/pii/S1877050917322094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Scalability issues when handling high-velocity data from multiple sensor nodes simultaneously.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Adoption of distributed streaming platforms for continuous weather data ingestion.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365386">
                <a:tc>
                  <a:txBody>
                    <a:bodyPr/>
                    <a:lstStyle/>
                    <a:p>
                      <a:r>
                        <a:rPr lang="en-US" dirty="0">
                          <a:latin typeface="Times New Roman" panose="02020603050405020304" pitchFamily="18" charset="0"/>
                          <a:cs typeface="Times New Roman" panose="02020603050405020304" pitchFamily="18" charset="0"/>
                        </a:rPr>
                        <a:t>Weather Anomaly Detection Using Machine Learning</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https://link.springer.com/article/10.1007/s00521-020-04762-8</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Complex model design and high computational cost for real-time anomaly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Simplified architectures with intelligent real-time anomaly detection and severity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07-04-2026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3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2107164505"/>
              </p:ext>
            </p:extLst>
          </p:nvPr>
        </p:nvGraphicFramePr>
        <p:xfrm>
          <a:off x="205483" y="877254"/>
          <a:ext cx="11763910" cy="5354114"/>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da-DK" sz="1800" dirty="0">
                          <a:latin typeface="Times New Roman" panose="02020603050405020304" pitchFamily="18" charset="0"/>
                          <a:cs typeface="Times New Roman" panose="02020603050405020304" pitchFamily="18" charset="0"/>
                        </a:rPr>
                        <a:t>Log Mining for Web Usage Analysis</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https://ieeexplore.ieee.org/document/611314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ability to handle large-scale datasets efficiently.</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Use of big data technologies like Spark and Hadoop for scalable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sz="1800" dirty="0">
                          <a:latin typeface="Times New Roman" panose="02020603050405020304" pitchFamily="18" charset="0"/>
                          <a:cs typeface="Times New Roman" panose="02020603050405020304" pitchFamily="18" charset="0"/>
                        </a:rPr>
                        <a:t>Big Data Processing Using MapReduce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https://research.google/pubs/pub62/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Slow processing due to disk-based batch processing model.</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Replacement with in-memory computing frameworks such as Apache Spark.</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sz="1800" dirty="0">
                          <a:latin typeface="Times New Roman" panose="02020603050405020304" pitchFamily="18" charset="0"/>
                          <a:cs typeface="Times New Roman" panose="02020603050405020304" pitchFamily="18" charset="0"/>
                        </a:rPr>
                        <a:t>Scalable Log Processing with Apache Spark</a:t>
                      </a:r>
                      <a:endParaRPr lang="da-DK"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https://spark.apache.org/research.html</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resource consumption in distributed clusters.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Development of optimized algorithms and lightweight processing pipelines.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sz="1800" dirty="0">
                          <a:latin typeface="Times New Roman" panose="02020603050405020304" pitchFamily="18" charset="0"/>
                          <a:cs typeface="Times New Roman" panose="02020603050405020304" pitchFamily="18" charset="0"/>
                        </a:rPr>
                        <a:t>Web Log Mining Using Data Mining Techniques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https://link.springer.com/chapter/10.1007/978-3-319-59888-8_7</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support for real-time analytics and anomaly detection.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Integration with machine learning algorithms for predictive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US" sz="1800" dirty="0">
                          <a:latin typeface="Times New Roman" panose="02020603050405020304" pitchFamily="18" charset="0"/>
                          <a:cs typeface="Times New Roman" panose="02020603050405020304" pitchFamily="18" charset="0"/>
                        </a:rPr>
                        <a:t>Distributed Log Analysis for Web Applications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https://dl.acm.org/doi/10.1145/3183713.3196902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Difficult system maintenance and complex distributed architecture.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Automated log monitoring systems with intelligent alert mechanisms.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473048" y="1185863"/>
            <a:ext cx="5736770" cy="5672135"/>
          </a:xfrm>
        </p:spPr>
        <p:txBody>
          <a:bodyPr>
            <a:noAutofit/>
          </a:bodyPr>
          <a:lstStyle/>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Apache Kafka</a:t>
            </a:r>
            <a:r>
              <a:rPr lang="en-US" altLang="en-US" sz="2000" dirty="0">
                <a:latin typeface="Times New Roman" panose="02020603050405020304" pitchFamily="18" charset="0"/>
                <a:cs typeface="Times New Roman" panose="02020603050405020304" pitchFamily="18" charset="0"/>
              </a:rPr>
              <a:t> – Used for real-time weather data ingestion</a:t>
            </a:r>
          </a:p>
          <a:p>
            <a:pPr marL="0" lvl="0" indent="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Apache Spark</a:t>
            </a:r>
            <a:r>
              <a:rPr lang="en-US" altLang="en-US" sz="2000" dirty="0">
                <a:latin typeface="Times New Roman" panose="02020603050405020304" pitchFamily="18" charset="0"/>
                <a:cs typeface="Times New Roman" panose="02020603050405020304" pitchFamily="18" charset="0"/>
              </a:rPr>
              <a:t> – Used for processing weather data streams</a:t>
            </a:r>
          </a:p>
          <a:p>
            <a:pPr marL="0" lvl="0" indent="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React.js</a:t>
            </a:r>
            <a:r>
              <a:rPr lang="en-US" altLang="en-US" sz="2000" dirty="0">
                <a:latin typeface="Times New Roman" panose="02020603050405020304" pitchFamily="18" charset="0"/>
                <a:cs typeface="Times New Roman" panose="02020603050405020304" pitchFamily="18" charset="0"/>
              </a:rPr>
              <a:t> – Used to build the web dashboard</a:t>
            </a:r>
          </a:p>
          <a:p>
            <a:pPr marL="0" lvl="0" indent="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Node.js</a:t>
            </a:r>
            <a:r>
              <a:rPr lang="en-US" altLang="en-US" sz="2000" dirty="0">
                <a:latin typeface="Times New Roman" panose="02020603050405020304" pitchFamily="18" charset="0"/>
                <a:cs typeface="Times New Roman" panose="02020603050405020304" pitchFamily="18" charset="0"/>
              </a:rPr>
              <a:t> – Used for handling server requests</a:t>
            </a:r>
          </a:p>
          <a:p>
            <a:pPr marL="0" lvl="0" indent="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b="1" dirty="0" err="1">
                <a:latin typeface="Times New Roman" panose="02020603050405020304" pitchFamily="18" charset="0"/>
                <a:cs typeface="Times New Roman" panose="02020603050405020304" pitchFamily="18" charset="0"/>
              </a:rPr>
              <a:t>OpenWeatherMap</a:t>
            </a:r>
            <a:r>
              <a:rPr lang="en-US" altLang="en-US" sz="2000" b="1" dirty="0">
                <a:latin typeface="Times New Roman" panose="02020603050405020304" pitchFamily="18" charset="0"/>
                <a:cs typeface="Times New Roman" panose="02020603050405020304" pitchFamily="18" charset="0"/>
              </a:rPr>
              <a:t> API</a:t>
            </a:r>
            <a:r>
              <a:rPr lang="en-US" altLang="en-US" sz="2000" dirty="0">
                <a:latin typeface="Times New Roman" panose="02020603050405020304" pitchFamily="18" charset="0"/>
                <a:cs typeface="Times New Roman" panose="02020603050405020304" pitchFamily="18" charset="0"/>
              </a:rPr>
              <a:t> – Used to fetch real-time weather data</a:t>
            </a:r>
          </a:p>
          <a:p>
            <a:pPr marL="0" lvl="0" indent="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Recharts</a:t>
            </a:r>
            <a:r>
              <a:rPr lang="en-US" altLang="en-US" sz="2000" dirty="0">
                <a:latin typeface="Times New Roman" panose="02020603050405020304" pitchFamily="18" charset="0"/>
                <a:cs typeface="Times New Roman" panose="02020603050405020304" pitchFamily="18" charset="0"/>
              </a:rPr>
              <a:t> – Used for charts and data visualization</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07-04-2026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3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366499" y="1423443"/>
            <a:ext cx="5736770" cy="5452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City Name</a:t>
            </a:r>
          </a:p>
          <a:p>
            <a:r>
              <a:rPr lang="en-US" sz="2000" dirty="0">
                <a:latin typeface="Times New Roman" panose="02020603050405020304" pitchFamily="18" charset="0"/>
                <a:cs typeface="Times New Roman" panose="02020603050405020304" pitchFamily="18" charset="0"/>
              </a:rPr>
              <a:t>Temperature</a:t>
            </a:r>
          </a:p>
          <a:p>
            <a:r>
              <a:rPr lang="en-US" sz="2000" dirty="0">
                <a:latin typeface="Times New Roman" panose="02020603050405020304" pitchFamily="18" charset="0"/>
                <a:cs typeface="Times New Roman" panose="02020603050405020304" pitchFamily="18" charset="0"/>
              </a:rPr>
              <a:t>Humidity</a:t>
            </a:r>
          </a:p>
          <a:p>
            <a:r>
              <a:rPr lang="en-US" sz="2000" dirty="0">
                <a:latin typeface="Times New Roman" panose="02020603050405020304" pitchFamily="18" charset="0"/>
                <a:cs typeface="Times New Roman" panose="02020603050405020304" pitchFamily="18" charset="0"/>
              </a:rPr>
              <a:t>Wind Speed</a:t>
            </a:r>
          </a:p>
          <a:p>
            <a:r>
              <a:rPr lang="en-US" sz="2000" dirty="0">
                <a:latin typeface="Times New Roman" panose="02020603050405020304" pitchFamily="18" charset="0"/>
                <a:cs typeface="Times New Roman" panose="02020603050405020304" pitchFamily="18" charset="0"/>
              </a:rPr>
              <a:t>Pressure</a:t>
            </a:r>
          </a:p>
          <a:p>
            <a:r>
              <a:rPr lang="en-US" sz="2000" dirty="0">
                <a:latin typeface="Times New Roman" panose="02020603050405020304" pitchFamily="18" charset="0"/>
                <a:cs typeface="Times New Roman" panose="02020603050405020304" pitchFamily="18" charset="0"/>
              </a:rPr>
              <a:t>AQI</a:t>
            </a:r>
          </a:p>
          <a:p>
            <a:r>
              <a:rPr lang="en-US" sz="2000" dirty="0">
                <a:latin typeface="Times New Roman" panose="02020603050405020304" pitchFamily="18" charset="0"/>
                <a:cs typeface="Times New Roman" panose="02020603050405020304" pitchFamily="18" charset="0"/>
              </a:rPr>
              <a:t>Rainfall</a:t>
            </a:r>
          </a:p>
          <a:p>
            <a:r>
              <a:rPr lang="en-US" sz="2000" dirty="0">
                <a:latin typeface="Times New Roman" panose="02020603050405020304" pitchFamily="18" charset="0"/>
                <a:cs typeface="Times New Roman" panose="02020603050405020304" pitchFamily="18" charset="0"/>
              </a:rPr>
              <a:t>Timestamp</a:t>
            </a:r>
          </a:p>
        </p:txBody>
      </p:sp>
    </p:spTree>
    <p:extLst>
      <p:ext uri="{BB962C8B-B14F-4D97-AF65-F5344CB8AC3E}">
        <p14:creationId xmlns:p14="http://schemas.microsoft.com/office/powerpoint/2010/main" val="335004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981F-66E6-47C7-8059-73788F75978A}"/>
              </a:ext>
            </a:extLst>
          </p:cNvPr>
          <p:cNvSpPr>
            <a:spLocks noGrp="1"/>
          </p:cNvSpPr>
          <p:nvPr>
            <p:ph type="title"/>
          </p:nvPr>
        </p:nvSpPr>
        <p:spPr>
          <a:xfrm>
            <a:off x="2271712" y="365125"/>
            <a:ext cx="7200901" cy="1095375"/>
          </a:xfrm>
        </p:spPr>
        <p:txBody>
          <a:bodyPr>
            <a:normAutofit/>
          </a:bodyPr>
          <a:lstStyle/>
          <a:p>
            <a:r>
              <a:rPr lang="en-US" sz="4000" b="1" dirty="0">
                <a:latin typeface="Times New Roman" panose="02020603050405020304" pitchFamily="18" charset="0"/>
                <a:cs typeface="Times New Roman" panose="02020603050405020304" pitchFamily="18" charset="0"/>
              </a:rPr>
              <a:t>Comparison and Discussion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92C27E-6971-4508-A662-6C123C2C648A}"/>
              </a:ext>
            </a:extLst>
          </p:cNvPr>
          <p:cNvSpPr>
            <a:spLocks noGrp="1"/>
          </p:cNvSpPr>
          <p:nvPr>
            <p:ph idx="1"/>
          </p:nvPr>
        </p:nvSpPr>
        <p:spPr>
          <a:xfrm>
            <a:off x="838200" y="1460500"/>
            <a:ext cx="10515600" cy="4351338"/>
          </a:xfrm>
        </p:spPr>
        <p:txBody>
          <a:bodyPr>
            <a:normAutofit/>
          </a:bodyPr>
          <a:lstStyle/>
          <a:p>
            <a:r>
              <a:rPr lang="en-IN" sz="1600" dirty="0">
                <a:latin typeface="Times New Roman" panose="02020603050405020304" pitchFamily="18" charset="0"/>
                <a:cs typeface="Times New Roman" panose="02020603050405020304" pitchFamily="18" charset="0"/>
              </a:rPr>
              <a:t>Hadoop vs Spark processing time                                                    </a:t>
            </a:r>
          </a:p>
          <a:p>
            <a:r>
              <a:rPr lang="en-IN" sz="1600" dirty="0">
                <a:latin typeface="Times New Roman" panose="02020603050405020304" pitchFamily="18" charset="0"/>
                <a:cs typeface="Times New Roman" panose="02020603050405020304" pitchFamily="18" charset="0"/>
              </a:rPr>
              <a:t>Traditional log analysis vs Spark log analysis</a:t>
            </a:r>
          </a:p>
          <a:p>
            <a:r>
              <a:rPr lang="en-IN" sz="1600" dirty="0">
                <a:latin typeface="Times New Roman" panose="02020603050405020304" pitchFamily="18" charset="0"/>
                <a:cs typeface="Times New Roman" panose="02020603050405020304" pitchFamily="18" charset="0"/>
              </a:rPr>
              <a:t> Processing time vs Data size</a:t>
            </a:r>
          </a:p>
          <a:p>
            <a:r>
              <a:rPr lang="en-IN" sz="1600" dirty="0">
                <a:latin typeface="Times New Roman" panose="02020603050405020304" pitchFamily="18" charset="0"/>
                <a:cs typeface="Times New Roman" panose="02020603050405020304" pitchFamily="18" charset="0"/>
              </a:rPr>
              <a:t> Error detection comparison</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BB58190-3B76-4F95-A133-F3D9C725CDBD}"/>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6EB3560F-9F93-44D1-9B18-5A4181169474}"/>
              </a:ext>
            </a:extLst>
          </p:cNvPr>
          <p:cNvSpPr>
            <a:spLocks noGrp="1"/>
          </p:cNvSpPr>
          <p:nvPr>
            <p:ph type="ftr" sz="quarter" idx="11"/>
          </p:nvPr>
        </p:nvSpPr>
        <p:spPr/>
        <p:txBody>
          <a:bodyPr/>
          <a:lstStyle/>
          <a:p>
            <a:r>
              <a:rPr lang="en-US" dirty="0"/>
              <a:t>REVIEW – 3    173030211    Department of CSE</a:t>
            </a:r>
          </a:p>
        </p:txBody>
      </p:sp>
      <p:sp>
        <p:nvSpPr>
          <p:cNvPr id="6" name="Slide Number Placeholder 5">
            <a:extLst>
              <a:ext uri="{FF2B5EF4-FFF2-40B4-BE49-F238E27FC236}">
                <a16:creationId xmlns:a16="http://schemas.microsoft.com/office/drawing/2014/main" id="{B5DFC4FC-DA44-465C-9B0B-0B764E359725}"/>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2" name="TextBox 11">
            <a:extLst>
              <a:ext uri="{FF2B5EF4-FFF2-40B4-BE49-F238E27FC236}">
                <a16:creationId xmlns:a16="http://schemas.microsoft.com/office/drawing/2014/main" id="{D4B02B3D-A175-447C-AE95-B104CD6681D0}"/>
              </a:ext>
            </a:extLst>
          </p:cNvPr>
          <p:cNvSpPr txBox="1"/>
          <p:nvPr/>
        </p:nvSpPr>
        <p:spPr>
          <a:xfrm>
            <a:off x="838200" y="4279841"/>
            <a:ext cx="9320213" cy="1754326"/>
          </a:xfrm>
          <a:prstGeom prst="rect">
            <a:avLst/>
          </a:prstGeom>
          <a:noFill/>
        </p:spPr>
        <p:txBody>
          <a:bodyPr wrap="square">
            <a:spAutoFit/>
          </a:bodyPr>
          <a:lstStyle/>
          <a:p>
            <a:r>
              <a:rPr lang="en-IN" b="1" dirty="0"/>
              <a:t>Content:</a:t>
            </a:r>
            <a:endParaRPr lang="en-IN" dirty="0"/>
          </a:p>
          <a:p>
            <a:pPr>
              <a:buFont typeface="Arial" panose="020B0604020202020204" pitchFamily="34" charset="0"/>
              <a:buChar char="•"/>
            </a:pPr>
            <a:r>
              <a:rPr lang="en-IN" dirty="0"/>
              <a:t>Traditional log analysis tools process data slowly due to disk-based processing. </a:t>
            </a:r>
          </a:p>
          <a:p>
            <a:pPr>
              <a:buFont typeface="Arial" panose="020B0604020202020204" pitchFamily="34" charset="0"/>
              <a:buChar char="•"/>
            </a:pPr>
            <a:r>
              <a:rPr lang="en-IN" dirty="0"/>
              <a:t>Hadoop MapReduce processes large data but has high latency. </a:t>
            </a:r>
          </a:p>
          <a:p>
            <a:pPr>
              <a:buFont typeface="Arial" panose="020B0604020202020204" pitchFamily="34" charset="0"/>
              <a:buChar char="•"/>
            </a:pPr>
            <a:r>
              <a:rPr lang="en-IN" dirty="0"/>
              <a:t>Apache Spark uses in-memory computation, resulting in faster processing. </a:t>
            </a:r>
          </a:p>
          <a:p>
            <a:pPr>
              <a:buFont typeface="Arial" panose="020B0604020202020204" pitchFamily="34" charset="0"/>
              <a:buChar char="•"/>
            </a:pPr>
            <a:r>
              <a:rPr lang="en-IN" dirty="0"/>
              <a:t>Spark significantly reduces processing time and improves performance. </a:t>
            </a:r>
          </a:p>
          <a:p>
            <a:pPr>
              <a:buFont typeface="Arial" panose="020B0604020202020204" pitchFamily="34" charset="0"/>
              <a:buChar char="•"/>
            </a:pPr>
            <a:r>
              <a:rPr lang="en-IN" dirty="0"/>
              <a:t>Graphical results show Spark performs better for large-scale log analysis.</a:t>
            </a:r>
          </a:p>
        </p:txBody>
      </p:sp>
      <p:graphicFrame>
        <p:nvGraphicFramePr>
          <p:cNvPr id="13" name="Table 13">
            <a:extLst>
              <a:ext uri="{FF2B5EF4-FFF2-40B4-BE49-F238E27FC236}">
                <a16:creationId xmlns:a16="http://schemas.microsoft.com/office/drawing/2014/main" id="{94FA7044-19D7-48E9-92CD-728FA05900EC}"/>
              </a:ext>
            </a:extLst>
          </p:cNvPr>
          <p:cNvGraphicFramePr>
            <a:graphicFrameLocks noGrp="1"/>
          </p:cNvGraphicFramePr>
          <p:nvPr>
            <p:extLst>
              <p:ext uri="{D42A27DB-BD31-4B8C-83A1-F6EECF244321}">
                <p14:modId xmlns:p14="http://schemas.microsoft.com/office/powerpoint/2010/main" val="1122930196"/>
              </p:ext>
            </p:extLst>
          </p:nvPr>
        </p:nvGraphicFramePr>
        <p:xfrm>
          <a:off x="1171575" y="2843213"/>
          <a:ext cx="9615488" cy="1463040"/>
        </p:xfrm>
        <a:graphic>
          <a:graphicData uri="http://schemas.openxmlformats.org/drawingml/2006/table">
            <a:tbl>
              <a:tblPr firstRow="1" bandRow="1">
                <a:tableStyleId>{5C22544A-7EE6-4342-B048-85BDC9FD1C3A}</a:tableStyleId>
              </a:tblPr>
              <a:tblGrid>
                <a:gridCol w="2403872">
                  <a:extLst>
                    <a:ext uri="{9D8B030D-6E8A-4147-A177-3AD203B41FA5}">
                      <a16:colId xmlns:a16="http://schemas.microsoft.com/office/drawing/2014/main" val="1187878092"/>
                    </a:ext>
                  </a:extLst>
                </a:gridCol>
                <a:gridCol w="2403872">
                  <a:extLst>
                    <a:ext uri="{9D8B030D-6E8A-4147-A177-3AD203B41FA5}">
                      <a16:colId xmlns:a16="http://schemas.microsoft.com/office/drawing/2014/main" val="107067563"/>
                    </a:ext>
                  </a:extLst>
                </a:gridCol>
                <a:gridCol w="2403872">
                  <a:extLst>
                    <a:ext uri="{9D8B030D-6E8A-4147-A177-3AD203B41FA5}">
                      <a16:colId xmlns:a16="http://schemas.microsoft.com/office/drawing/2014/main" val="3412893543"/>
                    </a:ext>
                  </a:extLst>
                </a:gridCol>
                <a:gridCol w="2403872">
                  <a:extLst>
                    <a:ext uri="{9D8B030D-6E8A-4147-A177-3AD203B41FA5}">
                      <a16:colId xmlns:a16="http://schemas.microsoft.com/office/drawing/2014/main" val="2986493483"/>
                    </a:ext>
                  </a:extLst>
                </a:gridCol>
              </a:tblGrid>
              <a:tr h="278611">
                <a:tc>
                  <a:txBody>
                    <a:bodyPr/>
                    <a:lstStyle/>
                    <a:p>
                      <a:r>
                        <a:rPr lang="en-IN"/>
                        <a:t>Method</a:t>
                      </a:r>
                    </a:p>
                  </a:txBody>
                  <a:tcPr anchor="ctr"/>
                </a:tc>
                <a:tc>
                  <a:txBody>
                    <a:bodyPr/>
                    <a:lstStyle/>
                    <a:p>
                      <a:r>
                        <a:rPr lang="en-IN"/>
                        <a:t>Processing Speed</a:t>
                      </a:r>
                    </a:p>
                  </a:txBody>
                  <a:tcPr anchor="ctr"/>
                </a:tc>
                <a:tc>
                  <a:txBody>
                    <a:bodyPr/>
                    <a:lstStyle/>
                    <a:p>
                      <a:r>
                        <a:rPr lang="en-IN"/>
                        <a:t>Scalability</a:t>
                      </a:r>
                    </a:p>
                  </a:txBody>
                  <a:tcPr anchor="ctr"/>
                </a:tc>
                <a:tc>
                  <a:txBody>
                    <a:bodyPr/>
                    <a:lstStyle/>
                    <a:p>
                      <a:r>
                        <a:rPr lang="en-IN"/>
                        <a:t>Real-time Analysis</a:t>
                      </a:r>
                    </a:p>
                  </a:txBody>
                  <a:tcPr anchor="ctr"/>
                </a:tc>
                <a:extLst>
                  <a:ext uri="{0D108BD9-81ED-4DB2-BD59-A6C34878D82A}">
                    <a16:rowId xmlns:a16="http://schemas.microsoft.com/office/drawing/2014/main" val="4023425679"/>
                  </a:ext>
                </a:extLst>
              </a:tr>
              <a:tr h="278611">
                <a:tc>
                  <a:txBody>
                    <a:bodyPr/>
                    <a:lstStyle/>
                    <a:p>
                      <a:r>
                        <a:rPr lang="en-IN"/>
                        <a:t>Traditional Tools</a:t>
                      </a:r>
                    </a:p>
                  </a:txBody>
                  <a:tcPr anchor="ctr"/>
                </a:tc>
                <a:tc>
                  <a:txBody>
                    <a:bodyPr/>
                    <a:lstStyle/>
                    <a:p>
                      <a:r>
                        <a:rPr lang="en-IN"/>
                        <a:t>Slow</a:t>
                      </a:r>
                    </a:p>
                  </a:txBody>
                  <a:tcPr anchor="ctr"/>
                </a:tc>
                <a:tc>
                  <a:txBody>
                    <a:bodyPr/>
                    <a:lstStyle/>
                    <a:p>
                      <a:r>
                        <a:rPr lang="en-IN"/>
                        <a:t>Low</a:t>
                      </a:r>
                    </a:p>
                  </a:txBody>
                  <a:tcPr anchor="ctr"/>
                </a:tc>
                <a:tc>
                  <a:txBody>
                    <a:bodyPr/>
                    <a:lstStyle/>
                    <a:p>
                      <a:r>
                        <a:rPr lang="en-IN"/>
                        <a:t>No</a:t>
                      </a:r>
                    </a:p>
                  </a:txBody>
                  <a:tcPr anchor="ctr"/>
                </a:tc>
                <a:extLst>
                  <a:ext uri="{0D108BD9-81ED-4DB2-BD59-A6C34878D82A}">
                    <a16:rowId xmlns:a16="http://schemas.microsoft.com/office/drawing/2014/main" val="1814653297"/>
                  </a:ext>
                </a:extLst>
              </a:tr>
              <a:tr h="278611">
                <a:tc>
                  <a:txBody>
                    <a:bodyPr/>
                    <a:lstStyle/>
                    <a:p>
                      <a:r>
                        <a:rPr lang="en-IN"/>
                        <a:t>Hadoop</a:t>
                      </a:r>
                    </a:p>
                  </a:txBody>
                  <a:tcPr anchor="ctr"/>
                </a:tc>
                <a:tc>
                  <a:txBody>
                    <a:bodyPr/>
                    <a:lstStyle/>
                    <a:p>
                      <a:r>
                        <a:rPr lang="en-IN"/>
                        <a:t>Medium</a:t>
                      </a:r>
                    </a:p>
                  </a:txBody>
                  <a:tcPr anchor="ctr"/>
                </a:tc>
                <a:tc>
                  <a:txBody>
                    <a:bodyPr/>
                    <a:lstStyle/>
                    <a:p>
                      <a:r>
                        <a:rPr lang="en-IN"/>
                        <a:t>High</a:t>
                      </a:r>
                    </a:p>
                  </a:txBody>
                  <a:tcPr anchor="ctr"/>
                </a:tc>
                <a:tc>
                  <a:txBody>
                    <a:bodyPr/>
                    <a:lstStyle/>
                    <a:p>
                      <a:r>
                        <a:rPr lang="en-IN"/>
                        <a:t>No</a:t>
                      </a:r>
                    </a:p>
                  </a:txBody>
                  <a:tcPr anchor="ctr"/>
                </a:tc>
                <a:extLst>
                  <a:ext uri="{0D108BD9-81ED-4DB2-BD59-A6C34878D82A}">
                    <a16:rowId xmlns:a16="http://schemas.microsoft.com/office/drawing/2014/main" val="2149023382"/>
                  </a:ext>
                </a:extLst>
              </a:tr>
              <a:tr h="278611">
                <a:tc>
                  <a:txBody>
                    <a:bodyPr/>
                    <a:lstStyle/>
                    <a:p>
                      <a:r>
                        <a:rPr lang="en-IN"/>
                        <a:t>Apache Spark</a:t>
                      </a:r>
                    </a:p>
                  </a:txBody>
                  <a:tcPr anchor="ctr"/>
                </a:tc>
                <a:tc>
                  <a:txBody>
                    <a:bodyPr/>
                    <a:lstStyle/>
                    <a:p>
                      <a:r>
                        <a:rPr lang="en-IN"/>
                        <a:t>Fast</a:t>
                      </a:r>
                    </a:p>
                  </a:txBody>
                  <a:tcPr anchor="ctr"/>
                </a:tc>
                <a:tc>
                  <a:txBody>
                    <a:bodyPr/>
                    <a:lstStyle/>
                    <a:p>
                      <a:r>
                        <a:rPr lang="en-IN"/>
                        <a:t>High</a:t>
                      </a:r>
                    </a:p>
                  </a:txBody>
                  <a:tcPr anchor="ctr"/>
                </a:tc>
                <a:tc>
                  <a:txBody>
                    <a:bodyPr/>
                    <a:lstStyle/>
                    <a:p>
                      <a:r>
                        <a:rPr lang="en-IN" dirty="0"/>
                        <a:t>Yes</a:t>
                      </a:r>
                    </a:p>
                  </a:txBody>
                  <a:tcPr anchor="ctr"/>
                </a:tc>
                <a:extLst>
                  <a:ext uri="{0D108BD9-81ED-4DB2-BD59-A6C34878D82A}">
                    <a16:rowId xmlns:a16="http://schemas.microsoft.com/office/drawing/2014/main" val="292285943"/>
                  </a:ext>
                </a:extLst>
              </a:tr>
            </a:tbl>
          </a:graphicData>
        </a:graphic>
      </p:graphicFrame>
    </p:spTree>
    <p:extLst>
      <p:ext uri="{BB962C8B-B14F-4D97-AF65-F5344CB8AC3E}">
        <p14:creationId xmlns:p14="http://schemas.microsoft.com/office/powerpoint/2010/main" val="2598071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D42989-49F4-4FB5-A024-34BAE04F1A0D}"/>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F95A3053-7A8E-4139-8976-14C89E1FC2D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FE8DBC2E-C673-4C4D-A1C8-29A6BAB884E0}"/>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8" name="Picture 7">
            <a:extLst>
              <a:ext uri="{FF2B5EF4-FFF2-40B4-BE49-F238E27FC236}">
                <a16:creationId xmlns:a16="http://schemas.microsoft.com/office/drawing/2014/main" id="{15616547-C432-F563-ABC1-6DD320D75045}"/>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2453147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B35D4A-3AD7-4A05-93DE-6AFB339F7647}"/>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2B253B25-3973-4CA9-BB92-350202F7692C}"/>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22B443C-3C5D-4E47-8624-86547F071C7A}"/>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8" name="Picture 7">
            <a:extLst>
              <a:ext uri="{FF2B5EF4-FFF2-40B4-BE49-F238E27FC236}">
                <a16:creationId xmlns:a16="http://schemas.microsoft.com/office/drawing/2014/main" id="{0B9CB64E-B30C-C284-89D6-66ACDD257791}"/>
              </a:ext>
            </a:extLst>
          </p:cNvPr>
          <p:cNvPicPr>
            <a:picLocks noChangeAspect="1"/>
          </p:cNvPicPr>
          <p:nvPr/>
        </p:nvPicPr>
        <p:blipFill>
          <a:blip r:embed="rId2"/>
          <a:stretch>
            <a:fillRect/>
          </a:stretch>
        </p:blipFill>
        <p:spPr>
          <a:xfrm>
            <a:off x="3810000" y="0"/>
            <a:ext cx="4572000" cy="6858000"/>
          </a:xfrm>
          <a:prstGeom prst="rect">
            <a:avLst/>
          </a:prstGeom>
        </p:spPr>
      </p:pic>
    </p:spTree>
    <p:extLst>
      <p:ext uri="{BB962C8B-B14F-4D97-AF65-F5344CB8AC3E}">
        <p14:creationId xmlns:p14="http://schemas.microsoft.com/office/powerpoint/2010/main" val="3917848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A21D9-F89A-4B4B-A1C0-C47278EA8A2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44B7C0-A265-43E7-BCD9-E2D2A702C58F}"/>
              </a:ext>
            </a:extLst>
          </p:cNvPr>
          <p:cNvSpPr>
            <a:spLocks noGrp="1"/>
          </p:cNvSpPr>
          <p:nvPr>
            <p:ph idx="1"/>
          </p:nvPr>
        </p:nvSpPr>
        <p:spPr/>
        <p:txBody>
          <a:bodyPr>
            <a:normAutofit/>
          </a:bodyPr>
          <a:lstStyle/>
          <a:p>
            <a:r>
              <a:rPr lang="en-IN" sz="1800" dirty="0">
                <a:latin typeface="Times New Roman" panose="02020603050405020304" pitchFamily="18" charset="0"/>
                <a:cs typeface="Times New Roman" panose="02020603050405020304" pitchFamily="18" charset="0"/>
              </a:rPr>
              <a:t>Real-time log monitoring and performance metrics generated.</a:t>
            </a:r>
          </a:p>
          <a:p>
            <a:r>
              <a:rPr lang="en-IN" sz="1800" dirty="0">
                <a:latin typeface="Times New Roman" panose="02020603050405020304" pitchFamily="18" charset="0"/>
                <a:cs typeface="Times New Roman" panose="02020603050405020304" pitchFamily="18" charset="0"/>
              </a:rPr>
              <a:t>Traffic analysis identified top IPs, URLs, and data usage.</a:t>
            </a:r>
          </a:p>
          <a:p>
            <a:r>
              <a:rPr lang="en-IN" sz="1800" dirty="0">
                <a:latin typeface="Times New Roman" panose="02020603050405020304" pitchFamily="18" charset="0"/>
                <a:cs typeface="Times New Roman" panose="02020603050405020304" pitchFamily="18" charset="0"/>
              </a:rPr>
              <a:t>Error analysis detected server and client errors.</a:t>
            </a:r>
          </a:p>
          <a:p>
            <a:r>
              <a:rPr lang="en-IN" sz="1800" dirty="0">
                <a:latin typeface="Times New Roman" panose="02020603050405020304" pitchFamily="18" charset="0"/>
                <a:cs typeface="Times New Roman" panose="02020603050405020304" pitchFamily="18" charset="0"/>
              </a:rPr>
              <a:t>Upload detection monitored file uploads and suspicious activity.</a:t>
            </a:r>
          </a:p>
          <a:p>
            <a:r>
              <a:rPr lang="en-IN" sz="1800" dirty="0">
                <a:latin typeface="Times New Roman" panose="02020603050405020304" pitchFamily="18" charset="0"/>
                <a:cs typeface="Times New Roman" panose="02020603050405020304" pitchFamily="18" charset="0"/>
              </a:rPr>
              <a:t>Results visualized using interactive dashboard.</a:t>
            </a:r>
          </a:p>
        </p:txBody>
      </p:sp>
      <p:sp>
        <p:nvSpPr>
          <p:cNvPr id="4" name="Date Placeholder 3">
            <a:extLst>
              <a:ext uri="{FF2B5EF4-FFF2-40B4-BE49-F238E27FC236}">
                <a16:creationId xmlns:a16="http://schemas.microsoft.com/office/drawing/2014/main" id="{DB7C26B7-6CC4-4156-BE41-DA12D0995E3B}"/>
              </a:ext>
            </a:extLst>
          </p:cNvPr>
          <p:cNvSpPr>
            <a:spLocks noGrp="1"/>
          </p:cNvSpPr>
          <p:nvPr>
            <p:ph type="dt" sz="half" idx="10"/>
          </p:nvPr>
        </p:nvSpPr>
        <p:spPr/>
        <p:txBody>
          <a:bodyPr/>
          <a:lstStyle/>
          <a:p>
            <a:fld id="{C7A4DE8B-8D6B-8C46-B882-6A2CD2BC96F0}" type="datetime1">
              <a:rPr lang="en-IN" smtClean="0"/>
              <a:t>07-04-2026</a:t>
            </a:fld>
            <a:endParaRPr lang="en-US"/>
          </a:p>
        </p:txBody>
      </p:sp>
      <p:sp>
        <p:nvSpPr>
          <p:cNvPr id="5" name="Footer Placeholder 4">
            <a:extLst>
              <a:ext uri="{FF2B5EF4-FFF2-40B4-BE49-F238E27FC236}">
                <a16:creationId xmlns:a16="http://schemas.microsoft.com/office/drawing/2014/main" id="{ED012446-0208-49A5-B980-002359136443}"/>
              </a:ext>
            </a:extLst>
          </p:cNvPr>
          <p:cNvSpPr>
            <a:spLocks noGrp="1"/>
          </p:cNvSpPr>
          <p:nvPr>
            <p:ph type="ftr" sz="quarter" idx="11"/>
          </p:nvPr>
        </p:nvSpPr>
        <p:spPr/>
        <p:txBody>
          <a:bodyPr/>
          <a:lstStyle/>
          <a:p>
            <a:r>
              <a:rPr lang="en-US" dirty="0"/>
              <a:t>REVIEW – 3    173030211    Department of CSE</a:t>
            </a:r>
          </a:p>
        </p:txBody>
      </p:sp>
      <p:sp>
        <p:nvSpPr>
          <p:cNvPr id="6" name="Slide Number Placeholder 5">
            <a:extLst>
              <a:ext uri="{FF2B5EF4-FFF2-40B4-BE49-F238E27FC236}">
                <a16:creationId xmlns:a16="http://schemas.microsoft.com/office/drawing/2014/main" id="{8C920048-4D3F-4250-B49A-623F65712890}"/>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0" name="Picture 9">
            <a:extLst>
              <a:ext uri="{FF2B5EF4-FFF2-40B4-BE49-F238E27FC236}">
                <a16:creationId xmlns:a16="http://schemas.microsoft.com/office/drawing/2014/main" id="{B5896A2C-C561-FCB4-AFFA-AE95A38E2B9D}"/>
              </a:ext>
            </a:extLst>
          </p:cNvPr>
          <p:cNvPicPr>
            <a:picLocks noChangeAspect="1"/>
          </p:cNvPicPr>
          <p:nvPr/>
        </p:nvPicPr>
        <p:blipFill>
          <a:blip r:embed="rId2"/>
          <a:stretch>
            <a:fillRect/>
          </a:stretch>
        </p:blipFill>
        <p:spPr>
          <a:xfrm>
            <a:off x="7232350" y="655009"/>
            <a:ext cx="4785607" cy="2462562"/>
          </a:xfrm>
          <a:prstGeom prst="rect">
            <a:avLst/>
          </a:prstGeom>
        </p:spPr>
      </p:pic>
      <p:pic>
        <p:nvPicPr>
          <p:cNvPr id="17" name="Picture 16">
            <a:extLst>
              <a:ext uri="{FF2B5EF4-FFF2-40B4-BE49-F238E27FC236}">
                <a16:creationId xmlns:a16="http://schemas.microsoft.com/office/drawing/2014/main" id="{DF07EFE2-999E-A3D6-1C7B-75D576125416}"/>
              </a:ext>
            </a:extLst>
          </p:cNvPr>
          <p:cNvPicPr>
            <a:picLocks noChangeAspect="1"/>
          </p:cNvPicPr>
          <p:nvPr/>
        </p:nvPicPr>
        <p:blipFill>
          <a:blip r:embed="rId3"/>
          <a:stretch>
            <a:fillRect/>
          </a:stretch>
        </p:blipFill>
        <p:spPr>
          <a:xfrm>
            <a:off x="7044906" y="3622800"/>
            <a:ext cx="5033152" cy="2554163"/>
          </a:xfrm>
          <a:prstGeom prst="rect">
            <a:avLst/>
          </a:prstGeom>
        </p:spPr>
      </p:pic>
      <p:pic>
        <p:nvPicPr>
          <p:cNvPr id="21" name="Picture 20">
            <a:extLst>
              <a:ext uri="{FF2B5EF4-FFF2-40B4-BE49-F238E27FC236}">
                <a16:creationId xmlns:a16="http://schemas.microsoft.com/office/drawing/2014/main" id="{DB0A8B66-DD81-9717-68BD-AE41641B2A81}"/>
              </a:ext>
            </a:extLst>
          </p:cNvPr>
          <p:cNvPicPr>
            <a:picLocks noChangeAspect="1"/>
          </p:cNvPicPr>
          <p:nvPr/>
        </p:nvPicPr>
        <p:blipFill>
          <a:blip r:embed="rId4"/>
          <a:stretch>
            <a:fillRect/>
          </a:stretch>
        </p:blipFill>
        <p:spPr>
          <a:xfrm>
            <a:off x="638355" y="3745186"/>
            <a:ext cx="5601419" cy="2611164"/>
          </a:xfrm>
          <a:prstGeom prst="rect">
            <a:avLst/>
          </a:prstGeom>
        </p:spPr>
      </p:pic>
    </p:spTree>
    <p:extLst>
      <p:ext uri="{BB962C8B-B14F-4D97-AF65-F5344CB8AC3E}">
        <p14:creationId xmlns:p14="http://schemas.microsoft.com/office/powerpoint/2010/main" val="1066294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45034"/>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685925"/>
            <a:ext cx="10515600" cy="4827042"/>
          </a:xfrm>
        </p:spPr>
        <p:txBody>
          <a:bodyPr>
            <a:normAutofit/>
          </a:bodyPr>
          <a:lstStyle/>
          <a:p>
            <a:r>
              <a:rPr lang="en-US" sz="2000" dirty="0">
                <a:latin typeface="Times New Roman" panose="02020603050405020304" pitchFamily="18" charset="0"/>
                <a:cs typeface="Times New Roman" panose="02020603050405020304" pitchFamily="18" charset="0"/>
              </a:rPr>
              <a:t>This project demonstrates how Big Data technologies can be used to process and analyze large volumes of weather data in real time.</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collects weather data from multiple sources, processes it using distributed technologies, and displays insights through an interactive dashboard.</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Using tools like </a:t>
            </a:r>
            <a:r>
              <a:rPr lang="en-US" sz="2000" b="1" dirty="0">
                <a:latin typeface="Times New Roman" panose="02020603050405020304" pitchFamily="18" charset="0"/>
                <a:cs typeface="Times New Roman" panose="02020603050405020304" pitchFamily="18" charset="0"/>
              </a:rPr>
              <a:t>Apache Kafka, Apache Spark, and HDFS</a:t>
            </a:r>
            <a:r>
              <a:rPr lang="en-US" sz="2000" dirty="0">
                <a:latin typeface="Times New Roman" panose="02020603050405020304" pitchFamily="18" charset="0"/>
                <a:cs typeface="Times New Roman" panose="02020603050405020304" pitchFamily="18" charset="0"/>
              </a:rPr>
              <a:t>, the system can efficiently handle streaming data, detect anomalies, and visualize weather trends.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shows how Big Data platforms can help in </a:t>
            </a:r>
            <a:r>
              <a:rPr lang="en-US" sz="2000" b="1" dirty="0">
                <a:latin typeface="Times New Roman" panose="02020603050405020304" pitchFamily="18" charset="0"/>
                <a:cs typeface="Times New Roman" panose="02020603050405020304" pitchFamily="18" charset="0"/>
              </a:rPr>
              <a:t>real-time environmental monitoring and data-driven decision making</a:t>
            </a:r>
            <a:r>
              <a:rPr lang="en-US" sz="2000" dirty="0">
                <a:latin typeface="Times New Roman" panose="02020603050405020304" pitchFamily="18" charset="0"/>
                <a:cs typeface="Times New Roman" panose="02020603050405020304" pitchFamily="18" charset="0"/>
              </a:rPr>
              <a:t>.</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07-04-2026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3   </a:t>
            </a:r>
          </a:p>
        </p:txBody>
      </p:sp>
    </p:spTree>
    <p:extLst>
      <p:ext uri="{BB962C8B-B14F-4D97-AF65-F5344CB8AC3E}">
        <p14:creationId xmlns:p14="http://schemas.microsoft.com/office/powerpoint/2010/main" val="716463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07-04-2026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16</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3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1331</Words>
  <Application>Microsoft Office PowerPoint</Application>
  <PresentationFormat>Widescreen</PresentationFormat>
  <Paragraphs>213</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Custom Design</vt:lpstr>
      <vt:lpstr>Distributed Weather Data Processing and Trend Analysis  REVIEW – 3  </vt:lpstr>
      <vt:lpstr>Outline</vt:lpstr>
      <vt:lpstr>Abstract</vt:lpstr>
      <vt:lpstr>Introduction</vt:lpstr>
      <vt:lpstr>Proposed Method</vt:lpstr>
      <vt:lpstr>Objectives </vt:lpstr>
      <vt:lpstr>Module-wise Implementations</vt:lpstr>
      <vt:lpstr>Literature Survey</vt:lpstr>
      <vt:lpstr>PowerPoint Presentation</vt:lpstr>
      <vt:lpstr>Implementation</vt:lpstr>
      <vt:lpstr>Comparison and Discussion</vt:lpstr>
      <vt:lpstr>PowerPoint Presentation</vt:lpstr>
      <vt:lpstr>PowerPoint Presentation</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Server Log Analysis using Big Data  REVIEW – 1</dc:title>
  <dc:creator>Dell</dc:creator>
  <cp:lastModifiedBy>s a</cp:lastModifiedBy>
  <cp:revision>25</cp:revision>
  <dcterms:modified xsi:type="dcterms:W3CDTF">2026-04-07T17:55:45Z</dcterms:modified>
</cp:coreProperties>
</file>