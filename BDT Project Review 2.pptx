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66" r:id="rId6"/>
    <p:sldId id="267" r:id="rId7"/>
    <p:sldId id="268" r:id="rId8"/>
    <p:sldId id="259" r:id="rId9"/>
    <p:sldId id="269" r:id="rId10"/>
    <p:sldId id="270" r:id="rId11"/>
    <p:sldId id="271" r:id="rId12"/>
    <p:sldId id="272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6E635-9262-47E1-A102-A24DB6649253}" v="12" dt="2026-04-07T17:57:42.8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a" userId="c228e0e7c514d0c2" providerId="LiveId" clId="{A4909939-5C00-4122-8D50-5E17C8A3DC79}"/>
    <pc:docChg chg="custSel modSld">
      <pc:chgData name="s a" userId="c228e0e7c514d0c2" providerId="LiveId" clId="{A4909939-5C00-4122-8D50-5E17C8A3DC79}" dt="2026-04-07T17:57:42.810" v="19"/>
      <pc:docMkLst>
        <pc:docMk/>
      </pc:docMkLst>
      <pc:sldChg chg="modSp mod">
        <pc:chgData name="s a" userId="c228e0e7c514d0c2" providerId="LiveId" clId="{A4909939-5C00-4122-8D50-5E17C8A3DC79}" dt="2026-04-07T17:56:44.857" v="7" actId="20577"/>
        <pc:sldMkLst>
          <pc:docMk/>
          <pc:sldMk cId="0" sldId="257"/>
        </pc:sldMkLst>
        <pc:spChg chg="mod">
          <ac:chgData name="s a" userId="c228e0e7c514d0c2" providerId="LiveId" clId="{A4909939-5C00-4122-8D50-5E17C8A3DC79}" dt="2026-04-07T17:56:44.857" v="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 a" userId="c228e0e7c514d0c2" providerId="LiveId" clId="{A4909939-5C00-4122-8D50-5E17C8A3DC79}" dt="2026-04-07T17:56:54.579" v="8"/>
        <pc:sldMkLst>
          <pc:docMk/>
          <pc:sldMk cId="2011599029" sldId="258"/>
        </pc:sldMkLst>
        <pc:spChg chg="mod">
          <ac:chgData name="s a" userId="c228e0e7c514d0c2" providerId="LiveId" clId="{A4909939-5C00-4122-8D50-5E17C8A3DC79}" dt="2026-04-07T17:56:54.579" v="8"/>
          <ac:spMkLst>
            <pc:docMk/>
            <pc:sldMk cId="2011599029" sldId="258"/>
            <ac:spMk id="4" creationId="{6246225C-C486-FED1-DA4D-888BE9F6A86C}"/>
          </ac:spMkLst>
        </pc:spChg>
      </pc:sldChg>
      <pc:sldChg chg="modSp">
        <pc:chgData name="s a" userId="c228e0e7c514d0c2" providerId="LiveId" clId="{A4909939-5C00-4122-8D50-5E17C8A3DC79}" dt="2026-04-07T17:57:09.954" v="12"/>
        <pc:sldMkLst>
          <pc:docMk/>
          <pc:sldMk cId="4008404546" sldId="259"/>
        </pc:sldMkLst>
        <pc:spChg chg="mod">
          <ac:chgData name="s a" userId="c228e0e7c514d0c2" providerId="LiveId" clId="{A4909939-5C00-4122-8D50-5E17C8A3DC79}" dt="2026-04-07T17:57:09.954" v="12"/>
          <ac:spMkLst>
            <pc:docMk/>
            <pc:sldMk cId="4008404546" sldId="259"/>
            <ac:spMk id="10" creationId="{EB56FACB-3BE6-7710-5AF6-30246594A4B1}"/>
          </ac:spMkLst>
        </pc:spChg>
      </pc:sldChg>
      <pc:sldChg chg="modSp">
        <pc:chgData name="s a" userId="c228e0e7c514d0c2" providerId="LiveId" clId="{A4909939-5C00-4122-8D50-5E17C8A3DC79}" dt="2026-04-07T17:57:34.536" v="17"/>
        <pc:sldMkLst>
          <pc:docMk/>
          <pc:sldMk cId="3350041320" sldId="262"/>
        </pc:sldMkLst>
        <pc:spChg chg="mod">
          <ac:chgData name="s a" userId="c228e0e7c514d0c2" providerId="LiveId" clId="{A4909939-5C00-4122-8D50-5E17C8A3DC79}" dt="2026-04-07T17:57:34.536" v="17"/>
          <ac:spMkLst>
            <pc:docMk/>
            <pc:sldMk cId="3350041320" sldId="262"/>
            <ac:spMk id="10" creationId="{3B7B457D-38E8-2C64-57F5-E01DF1762DD2}"/>
          </ac:spMkLst>
        </pc:spChg>
      </pc:sldChg>
      <pc:sldChg chg="modSp">
        <pc:chgData name="s a" userId="c228e0e7c514d0c2" providerId="LiveId" clId="{A4909939-5C00-4122-8D50-5E17C8A3DC79}" dt="2026-04-07T17:57:38.698" v="18"/>
        <pc:sldMkLst>
          <pc:docMk/>
          <pc:sldMk cId="716463640" sldId="263"/>
        </pc:sldMkLst>
        <pc:spChg chg="mod">
          <ac:chgData name="s a" userId="c228e0e7c514d0c2" providerId="LiveId" clId="{A4909939-5C00-4122-8D50-5E17C8A3DC79}" dt="2026-04-07T17:57:38.698" v="18"/>
          <ac:spMkLst>
            <pc:docMk/>
            <pc:sldMk cId="716463640" sldId="263"/>
            <ac:spMk id="10" creationId="{187A4474-F3F0-CAB1-93F1-9BF4015FB49E}"/>
          </ac:spMkLst>
        </pc:spChg>
      </pc:sldChg>
      <pc:sldChg chg="modSp">
        <pc:chgData name="s a" userId="c228e0e7c514d0c2" providerId="LiveId" clId="{A4909939-5C00-4122-8D50-5E17C8A3DC79}" dt="2026-04-07T17:57:42.810" v="19"/>
        <pc:sldMkLst>
          <pc:docMk/>
          <pc:sldMk cId="2116982541" sldId="264"/>
        </pc:sldMkLst>
        <pc:spChg chg="mod">
          <ac:chgData name="s a" userId="c228e0e7c514d0c2" providerId="LiveId" clId="{A4909939-5C00-4122-8D50-5E17C8A3DC79}" dt="2026-04-07T17:57:42.810" v="19"/>
          <ac:spMkLst>
            <pc:docMk/>
            <pc:sldMk cId="2116982541" sldId="264"/>
            <ac:spMk id="10" creationId="{792543A9-D42E-FC1A-73CD-75569187C620}"/>
          </ac:spMkLst>
        </pc:spChg>
      </pc:sldChg>
      <pc:sldChg chg="modSp">
        <pc:chgData name="s a" userId="c228e0e7c514d0c2" providerId="LiveId" clId="{A4909939-5C00-4122-8D50-5E17C8A3DC79}" dt="2026-04-07T17:56:57.965" v="9"/>
        <pc:sldMkLst>
          <pc:docMk/>
          <pc:sldMk cId="939662788" sldId="266"/>
        </pc:sldMkLst>
        <pc:spChg chg="mod">
          <ac:chgData name="s a" userId="c228e0e7c514d0c2" providerId="LiveId" clId="{A4909939-5C00-4122-8D50-5E17C8A3DC79}" dt="2026-04-07T17:56:57.965" v="9"/>
          <ac:spMkLst>
            <pc:docMk/>
            <pc:sldMk cId="939662788" sldId="266"/>
            <ac:spMk id="5" creationId="{00856B8C-5BCA-2967-20B6-380506996FAF}"/>
          </ac:spMkLst>
        </pc:spChg>
      </pc:sldChg>
      <pc:sldChg chg="modSp">
        <pc:chgData name="s a" userId="c228e0e7c514d0c2" providerId="LiveId" clId="{A4909939-5C00-4122-8D50-5E17C8A3DC79}" dt="2026-04-07T17:57:00.919" v="10"/>
        <pc:sldMkLst>
          <pc:docMk/>
          <pc:sldMk cId="3608890864" sldId="267"/>
        </pc:sldMkLst>
        <pc:spChg chg="mod">
          <ac:chgData name="s a" userId="c228e0e7c514d0c2" providerId="LiveId" clId="{A4909939-5C00-4122-8D50-5E17C8A3DC79}" dt="2026-04-07T17:57:00.919" v="10"/>
          <ac:spMkLst>
            <pc:docMk/>
            <pc:sldMk cId="3608890864" sldId="267"/>
            <ac:spMk id="4" creationId="{52AE64CD-548C-46A3-B748-3B2547D0D4F1}"/>
          </ac:spMkLst>
        </pc:spChg>
      </pc:sldChg>
      <pc:sldChg chg="modSp">
        <pc:chgData name="s a" userId="c228e0e7c514d0c2" providerId="LiveId" clId="{A4909939-5C00-4122-8D50-5E17C8A3DC79}" dt="2026-04-07T17:57:04.763" v="11"/>
        <pc:sldMkLst>
          <pc:docMk/>
          <pc:sldMk cId="1388554390" sldId="268"/>
        </pc:sldMkLst>
        <pc:spChg chg="mod">
          <ac:chgData name="s a" userId="c228e0e7c514d0c2" providerId="LiveId" clId="{A4909939-5C00-4122-8D50-5E17C8A3DC79}" dt="2026-04-07T17:57:04.763" v="11"/>
          <ac:spMkLst>
            <pc:docMk/>
            <pc:sldMk cId="1388554390" sldId="268"/>
            <ac:spMk id="4" creationId="{9FF3EF9F-F3F8-C936-F6AC-088CF4612A6C}"/>
          </ac:spMkLst>
        </pc:spChg>
      </pc:sldChg>
      <pc:sldChg chg="modSp">
        <pc:chgData name="s a" userId="c228e0e7c514d0c2" providerId="LiveId" clId="{A4909939-5C00-4122-8D50-5E17C8A3DC79}" dt="2026-04-07T17:57:14.152" v="13"/>
        <pc:sldMkLst>
          <pc:docMk/>
          <pc:sldMk cId="772360236" sldId="269"/>
        </pc:sldMkLst>
        <pc:spChg chg="mod">
          <ac:chgData name="s a" userId="c228e0e7c514d0c2" providerId="LiveId" clId="{A4909939-5C00-4122-8D50-5E17C8A3DC79}" dt="2026-04-07T17:57:14.152" v="13"/>
          <ac:spMkLst>
            <pc:docMk/>
            <pc:sldMk cId="772360236" sldId="269"/>
            <ac:spMk id="4" creationId="{4F3C6F8E-B961-F772-0F43-A085F99808B6}"/>
          </ac:spMkLst>
        </pc:spChg>
      </pc:sldChg>
      <pc:sldChg chg="modSp">
        <pc:chgData name="s a" userId="c228e0e7c514d0c2" providerId="LiveId" clId="{A4909939-5C00-4122-8D50-5E17C8A3DC79}" dt="2026-04-07T17:57:18.488" v="14"/>
        <pc:sldMkLst>
          <pc:docMk/>
          <pc:sldMk cId="2194705567" sldId="270"/>
        </pc:sldMkLst>
        <pc:spChg chg="mod">
          <ac:chgData name="s a" userId="c228e0e7c514d0c2" providerId="LiveId" clId="{A4909939-5C00-4122-8D50-5E17C8A3DC79}" dt="2026-04-07T17:57:18.488" v="14"/>
          <ac:spMkLst>
            <pc:docMk/>
            <pc:sldMk cId="2194705567" sldId="270"/>
            <ac:spMk id="5" creationId="{4CB0332F-592D-75B5-88C6-A20F387049A5}"/>
          </ac:spMkLst>
        </pc:spChg>
      </pc:sldChg>
      <pc:sldChg chg="modSp">
        <pc:chgData name="s a" userId="c228e0e7c514d0c2" providerId="LiveId" clId="{A4909939-5C00-4122-8D50-5E17C8A3DC79}" dt="2026-04-07T17:57:22.684" v="15"/>
        <pc:sldMkLst>
          <pc:docMk/>
          <pc:sldMk cId="4207018131" sldId="271"/>
        </pc:sldMkLst>
        <pc:spChg chg="mod">
          <ac:chgData name="s a" userId="c228e0e7c514d0c2" providerId="LiveId" clId="{A4909939-5C00-4122-8D50-5E17C8A3DC79}" dt="2026-04-07T17:57:22.684" v="15"/>
          <ac:spMkLst>
            <pc:docMk/>
            <pc:sldMk cId="4207018131" sldId="271"/>
            <ac:spMk id="5" creationId="{A5F299D1-4A05-62ED-A719-DE21853F50D2}"/>
          </ac:spMkLst>
        </pc:spChg>
      </pc:sldChg>
      <pc:sldChg chg="modSp">
        <pc:chgData name="s a" userId="c228e0e7c514d0c2" providerId="LiveId" clId="{A4909939-5C00-4122-8D50-5E17C8A3DC79}" dt="2026-04-07T17:57:26.963" v="16"/>
        <pc:sldMkLst>
          <pc:docMk/>
          <pc:sldMk cId="410003362" sldId="272"/>
        </pc:sldMkLst>
        <pc:spChg chg="mod">
          <ac:chgData name="s a" userId="c228e0e7c514d0c2" providerId="LiveId" clId="{A4909939-5C00-4122-8D50-5E17C8A3DC79}" dt="2026-04-07T17:57:26.963" v="16"/>
          <ac:spMkLst>
            <pc:docMk/>
            <pc:sldMk cId="410003362" sldId="272"/>
            <ac:spMk id="5" creationId="{F6CFD812-D07B-CB48-D256-14DD937CD3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07-04-2026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07-04-2026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07-04-2026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07-04-2026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07-04-2026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07-04-2026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07-04-2026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07-04-2026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3546" TargetMode="External"/><Relationship Id="rId7" Type="http://schemas.openxmlformats.org/officeDocument/2006/relationships/hyperlink" Target="https://link.springer.com/article/10.1007/s00521-020-04762-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1877050917322094" TargetMode="External"/><Relationship Id="rId5" Type="http://schemas.openxmlformats.org/officeDocument/2006/relationships/hyperlink" Target="https://ieeexplore.ieee.org/document/7488251" TargetMode="External"/><Relationship Id="rId4" Type="http://schemas.openxmlformats.org/officeDocument/2006/relationships/hyperlink" Target="https://arxiv.org/abs/1802.00316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" TargetMode="External"/><Relationship Id="rId2" Type="http://schemas.openxmlformats.org/officeDocument/2006/relationships/hyperlink" Target="https://spark.apach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openweathermap.org/api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519" y="812442"/>
            <a:ext cx="10515600" cy="106500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Weather Data Processing and Trend Analysis</a:t>
            </a:r>
            <a:br>
              <a:rPr lang="da-DK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1&amp;2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4419" y="1877449"/>
            <a:ext cx="10515600" cy="26392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		Name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2320030207    A. Subash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2320030208    C.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Saisandeep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2320030164     G. Rohith Sai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07-04-2026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70334" y="5316412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1228519" y="3106256"/>
            <a:ext cx="10618341" cy="2022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just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315" y="5250931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215143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58411"/>
            <a:ext cx="10515600" cy="50805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27DB0-61D3-C1D6-407B-FDF3301D6392}"/>
              </a:ext>
            </a:extLst>
          </p:cNvPr>
          <p:cNvSpPr txBox="1"/>
          <p:nvPr/>
        </p:nvSpPr>
        <p:spPr>
          <a:xfrm>
            <a:off x="513347" y="157212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C2B204-E8BD-D196-FD8A-BD9B0A651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964987"/>
            <a:ext cx="4535817" cy="5236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54487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E54372-0C7D-660E-6D34-D9E23359AD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198" y="1819533"/>
            <a:ext cx="1017318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data is highly dynamic and generated continuously from multiple global locations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the increase in real-time weather monitoring, traditional systems cannot process large-scale streaming data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Big Data technologies enable scalable processing of massive weather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integrates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Kafka, Apache Spark, and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build a real-time analytics pipeline capable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Collecting live weather data from global city nodes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Streaming and processing real-time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Detecting anomalies and analyzing weather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Storing large-scale data in distributed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Visualizing weather insights using interactive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512C-403E-1ACD-6201-0F54C18A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5C05C-64F5-2F73-6DA1-71ACF1BC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6B8C-5BCA-2967-20B6-38050699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08C1-E953-E12A-5F29-325F4E23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10F9A1D-2ED6-26FA-9AE5-04C3B7F3E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137069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systems generate massive amounts of real-time environmental data every second. Traditional data processing systems struggle to efficiently analyze this continuous stream of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proposes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Big Data based Weather Data Processing and Trend Analysis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data streaming,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Spark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distributed data processing,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Hadoop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scalable data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collects weather data from APIs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OpenWeatherMap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processes the data using Spark Streaming, and performs analytics to detect anomalies and identify weather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provides insights including: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Temperature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Humidity variations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pattern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Anomaly detection (extreme conditions)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dashboards visualize the analytics results using tools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 and Recharts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users understand weather conditions and make informed decisions. </a:t>
            </a:r>
          </a:p>
        </p:txBody>
      </p:sp>
    </p:spTree>
    <p:extLst>
      <p:ext uri="{BB962C8B-B14F-4D97-AF65-F5344CB8AC3E}">
        <p14:creationId xmlns:p14="http://schemas.microsoft.com/office/powerpoint/2010/main" val="93966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A7A-EA76-8E92-8310-9CD58208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B92EC-E7D8-0B2E-CA86-9A1E70B7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07-04-2026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64CD-548C-46A3-B748-3B2547D0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05C40-388E-7C4A-BB7A-95BDF177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6BB8A-7A5E-4B2E-232A-48443D3E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618734" cy="8079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73F55C91-6833-B9C1-8949-5A2C71E1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99" y="1833719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weather monitoring systems rely 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historical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</a:t>
            </a:r>
            <a:r>
              <a:rPr lang="en-US" altLang="en-US" sz="2000" dirty="0"/>
              <a:t>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 processing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Limitations of existing systems: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real-time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scalability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 response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Inefficient handling of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capability to detect anomalies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limitations reduce the effectiveness of real-time weather monitoring and analysis </a:t>
            </a:r>
          </a:p>
        </p:txBody>
      </p:sp>
    </p:spTree>
    <p:extLst>
      <p:ext uri="{BB962C8B-B14F-4D97-AF65-F5344CB8AC3E}">
        <p14:creationId xmlns:p14="http://schemas.microsoft.com/office/powerpoint/2010/main" val="36088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1FDA-4059-368E-B3C4-3DECC080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Proposed Method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99D93-A90F-6CC2-7930-290E23DF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3EF9F-F3F8-C936-F6AC-088CF461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80E72-2372-1328-6836-6760127F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57A107-05B0-7FE0-0C43-4C7D22F2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22" y="1390348"/>
            <a:ext cx="1002753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system uses Big Data technologies to analyze weather data in real-time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technologies used: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Real-time data streaming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Spark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Distributed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Hadoop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Large-scale data storage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Analytics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Anomaly detection and trend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Visualization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Dashboard analytics (React + Recharts)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processes real-time weather data, performs analysis, detects anomalies, computes trends, and displays insights through interactive dashboards </a:t>
            </a:r>
          </a:p>
        </p:txBody>
      </p:sp>
    </p:spTree>
    <p:extLst>
      <p:ext uri="{BB962C8B-B14F-4D97-AF65-F5344CB8AC3E}">
        <p14:creationId xmlns:p14="http://schemas.microsoft.com/office/powerpoint/2010/main" val="138855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810" y="482363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552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main objectives of the project are:</a:t>
            </a:r>
          </a:p>
          <a:p>
            <a:r>
              <a:rPr lang="en-US" sz="2000" dirty="0"/>
              <a:t>Collect real-time weather data from APIs (e.g., OpenWeatherMap) </a:t>
            </a:r>
          </a:p>
          <a:p>
            <a:r>
              <a:rPr lang="en-US" sz="2000" dirty="0"/>
              <a:t>Stream data using </a:t>
            </a:r>
            <a:r>
              <a:rPr lang="en-US" sz="2000" b="1" dirty="0"/>
              <a:t>Apache Kafka</a:t>
            </a:r>
            <a:r>
              <a:rPr lang="en-US" sz="2000" dirty="0"/>
              <a:t> </a:t>
            </a:r>
          </a:p>
          <a:p>
            <a:r>
              <a:rPr lang="en-US" sz="2000" dirty="0"/>
              <a:t>Perform large-scale data processing using </a:t>
            </a:r>
            <a:r>
              <a:rPr lang="en-US" sz="2000" b="1" dirty="0"/>
              <a:t>Apache Spark</a:t>
            </a:r>
            <a:r>
              <a:rPr lang="en-US" sz="2000" dirty="0"/>
              <a:t> </a:t>
            </a:r>
          </a:p>
          <a:p>
            <a:r>
              <a:rPr lang="en-US" sz="2000" dirty="0"/>
              <a:t>Store historical weather data in </a:t>
            </a:r>
            <a:r>
              <a:rPr lang="en-US" sz="2000" b="1" dirty="0"/>
              <a:t>Hadoop HDFS</a:t>
            </a:r>
            <a:r>
              <a:rPr lang="en-US" sz="2000" dirty="0"/>
              <a:t> </a:t>
            </a:r>
          </a:p>
          <a:p>
            <a:r>
              <a:rPr lang="en-US" sz="2000" dirty="0"/>
              <a:t>Generate insights such as temperature trends and humidity variations </a:t>
            </a:r>
          </a:p>
          <a:p>
            <a:r>
              <a:rPr lang="en-US" sz="2000" dirty="0"/>
              <a:t>Detect anomalies in weather conditions </a:t>
            </a:r>
          </a:p>
          <a:p>
            <a:r>
              <a:rPr lang="en-US" sz="2000" dirty="0"/>
              <a:t>Visualize weather data using interactive dashboards </a:t>
            </a:r>
          </a:p>
          <a:p>
            <a:r>
              <a:rPr lang="en-US" sz="2000" dirty="0"/>
              <a:t>Provide real-time weather insights for better analysis and decision-making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&amp; 2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9124-389D-123A-8AFD-72741FC2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0DAA1-BB6C-8688-F2FC-1EB40F81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07-04-2026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C6F8E-B961-F772-0F43-A085F998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F6E18-E5FB-A709-530D-0B03168B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DB09C-3F0C-4D86-BFE8-B9E64F3830C5}"/>
              </a:ext>
            </a:extLst>
          </p:cNvPr>
          <p:cNvSpPr txBox="1"/>
          <p:nvPr/>
        </p:nvSpPr>
        <p:spPr>
          <a:xfrm>
            <a:off x="991565" y="1458706"/>
            <a:ext cx="60940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PySpark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Big Data Tools: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Apache Kafka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Apache Spark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Hadoop HDFS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Libraries: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Pandas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Frontend / Visualization: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React.js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API Integration: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OpenWeatherMap API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9CFEC-160F-9677-2BE1-5625149FC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6"/>
            <a:ext cx="1631092" cy="71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6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5F3B-1EF5-53E8-7540-2CEF9980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BD6-0434-B021-8BD1-F660FE26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dirty="0"/>
              <a:t>Minimum System Requirements:</a:t>
            </a:r>
            <a:endParaRPr lang="en-IN" sz="2400" dirty="0"/>
          </a:p>
          <a:p>
            <a:r>
              <a:rPr lang="en-IN" sz="2400" b="1" dirty="0"/>
              <a:t>Processor: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Intel i5 or above </a:t>
            </a:r>
          </a:p>
          <a:p>
            <a:r>
              <a:rPr lang="en-IN" sz="2400" b="1" dirty="0"/>
              <a:t>RAM: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Minimum 8 GB </a:t>
            </a:r>
          </a:p>
          <a:p>
            <a:pPr lvl="1"/>
            <a:r>
              <a:rPr lang="en-IN" dirty="0"/>
              <a:t>16 GB recommended for Big Data processing </a:t>
            </a:r>
          </a:p>
          <a:p>
            <a:r>
              <a:rPr lang="en-IN" sz="2400" b="1" dirty="0"/>
              <a:t>Storage: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Minimum 500 GB </a:t>
            </a:r>
          </a:p>
          <a:p>
            <a:r>
              <a:rPr lang="en-IN" sz="2400" b="1" dirty="0"/>
              <a:t>Operating System: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Windows </a:t>
            </a:r>
          </a:p>
          <a:p>
            <a:pPr lvl="1"/>
            <a:r>
              <a:rPr lang="en-IN" dirty="0"/>
              <a:t>Linux (Preferred for Hadoop &amp; Spark) </a:t>
            </a:r>
          </a:p>
          <a:p>
            <a:r>
              <a:rPr lang="en-IN" sz="2400" b="1" dirty="0"/>
              <a:t>Network: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Stable internet connection for real-time weather data collection (API access)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88B45-E79A-0446-AEEE-82F24419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332F-592D-75B5-88C6-A20F3870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D815-D741-2215-85D7-D763D542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0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EC8B-7373-0670-E51D-5EFF9C8D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E3FA-21D6-5F28-2FCB-DAF435C6C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 system must perform the following functions:</a:t>
            </a:r>
          </a:p>
          <a:p>
            <a:r>
              <a:rPr lang="en-US" dirty="0"/>
              <a:t>Collect real-time weather data from APIs (e.g., OpenWeatherMap) </a:t>
            </a:r>
          </a:p>
          <a:p>
            <a:r>
              <a:rPr lang="en-US" dirty="0"/>
              <a:t>Stream data using </a:t>
            </a:r>
            <a:r>
              <a:rPr lang="en-US" b="1" dirty="0"/>
              <a:t>Apache Kafka</a:t>
            </a:r>
            <a:r>
              <a:rPr lang="en-US" dirty="0"/>
              <a:t> </a:t>
            </a:r>
          </a:p>
          <a:p>
            <a:r>
              <a:rPr lang="en-US" dirty="0"/>
              <a:t>Process streaming data using </a:t>
            </a:r>
            <a:r>
              <a:rPr lang="en-US" b="1" dirty="0"/>
              <a:t>Apache Spark</a:t>
            </a:r>
            <a:r>
              <a:rPr lang="en-US" dirty="0"/>
              <a:t> </a:t>
            </a:r>
          </a:p>
          <a:p>
            <a:r>
              <a:rPr lang="en-US" dirty="0"/>
              <a:t>Store processed data in </a:t>
            </a:r>
            <a:r>
              <a:rPr lang="en-US" b="1" dirty="0"/>
              <a:t>Hadoop HDFS</a:t>
            </a:r>
            <a:r>
              <a:rPr lang="en-US" dirty="0"/>
              <a:t> </a:t>
            </a:r>
          </a:p>
          <a:p>
            <a:r>
              <a:rPr lang="en-US" dirty="0"/>
              <a:t>Clean and preprocess weather data </a:t>
            </a:r>
          </a:p>
          <a:p>
            <a:r>
              <a:rPr lang="en-US" dirty="0"/>
              <a:t>Generate analytics insights (temperature, humidity, trends) </a:t>
            </a:r>
          </a:p>
          <a:p>
            <a:r>
              <a:rPr lang="en-US" dirty="0"/>
              <a:t>Detect anomalies in weather conditions </a:t>
            </a:r>
          </a:p>
          <a:p>
            <a:r>
              <a:rPr lang="en-US" dirty="0"/>
              <a:t>Display results through interactive dashboards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850F-E227-6A4B-77B0-D6A80972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99D1-4A05-62ED-A719-DE21853F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8313-5414-327C-5B1D-E74F8234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1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05DC-A25B-49EB-DD2D-3DA3A5C8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FC27F-8FCB-DA29-7E14-49F22F6D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FD812-D07B-CB48-D256-14DD937C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3EE6B-AF5C-8A72-7E8B-5CA68FCC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F406C32-06BD-7EC2-0724-569CCD2FF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5302"/>
            <a:ext cx="105156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must handle large volumes of real-time weather data from multiple locations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should efficiently process streaming weather data with low latency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Reliability: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processing pipelines must ensure accurate and consistent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Availability: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should run continuously to support real-time weather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API access and data protection mechanisms should be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3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183" y="0"/>
            <a:ext cx="10173182" cy="69046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9E0910E8-64C1-D3C8-E650-99B21DBB4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422444"/>
              </p:ext>
            </p:extLst>
          </p:nvPr>
        </p:nvGraphicFramePr>
        <p:xfrm>
          <a:off x="0" y="690467"/>
          <a:ext cx="12000215" cy="6265256"/>
        </p:xfrm>
        <a:graphic>
          <a:graphicData uri="http://schemas.openxmlformats.org/drawingml/2006/table">
            <a:tbl>
              <a:tblPr/>
              <a:tblGrid>
                <a:gridCol w="2963493">
                  <a:extLst>
                    <a:ext uri="{9D8B030D-6E8A-4147-A177-3AD203B41FA5}">
                      <a16:colId xmlns:a16="http://schemas.microsoft.com/office/drawing/2014/main" val="2914338365"/>
                    </a:ext>
                  </a:extLst>
                </a:gridCol>
                <a:gridCol w="3339228">
                  <a:extLst>
                    <a:ext uri="{9D8B030D-6E8A-4147-A177-3AD203B41FA5}">
                      <a16:colId xmlns:a16="http://schemas.microsoft.com/office/drawing/2014/main" val="84625793"/>
                    </a:ext>
                  </a:extLst>
                </a:gridCol>
                <a:gridCol w="2685253">
                  <a:extLst>
                    <a:ext uri="{9D8B030D-6E8A-4147-A177-3AD203B41FA5}">
                      <a16:colId xmlns:a16="http://schemas.microsoft.com/office/drawing/2014/main" val="2110254283"/>
                    </a:ext>
                  </a:extLst>
                </a:gridCol>
                <a:gridCol w="3012241">
                  <a:extLst>
                    <a:ext uri="{9D8B030D-6E8A-4147-A177-3AD203B41FA5}">
                      <a16:colId xmlns:a16="http://schemas.microsoft.com/office/drawing/2014/main" val="671031542"/>
                    </a:ext>
                  </a:extLst>
                </a:gridCol>
              </a:tblGrid>
              <a:tr h="3166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Link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944730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Weather Monitoring Using Distributed Systems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https://arxiv.org/abs/1709.03546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 due to centralized data collection and lack of real-time stream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extended using distributed streaming frameworks like Kafka for low-latency ingestion.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55332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Spark for Large-Scale Weather 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4"/>
                        </a:rPr>
                        <a:t>https://arxiv.org/abs/1802.00316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memory resources and complex cluster configuration for weather datasets.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using cloud-based deployment and auto-scaling Spark clusters.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15708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 for Climate and Weather Patterns</a:t>
                      </a:r>
                      <a:endParaRPr lang="da-DK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https://ieeexplore.ieee.org/document/7488251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historical data analysis and lacks real-time anomaly detection capabilities.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with live weather streams for dynamic trend and anomaly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724141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Sensor Data Processing Using Hadoop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https://www.sciencedirect.com/science/article/pii/S1877050917322094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issues when handling high-velocity data from multiple sensor nodes simultaneously.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Adoption of distributed streaming platforms for continuous weather data ingestion.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065698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Anomaly Detection Using Machine Learning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https://link.springer.com/article/10.1007/s00521-020-04762-8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model design and high computational cost for real-time anomaly classification.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Simplified architectures with intelligent real-time anomaly detection and severity classification.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4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97007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D3ECD-D4F4-1058-D206-5201BBE8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8491"/>
            <a:ext cx="10287000" cy="543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23709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C3B3BB6-B8AE-DAF9-28DD-AC2C38691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327" y="1128297"/>
            <a:ext cx="10059346" cy="545147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&amp; 2 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CB451393-98ED-BDA8-C5E5-DF29C79A359A}"/>
              </a:ext>
            </a:extLst>
          </p:cNvPr>
          <p:cNvSpPr txBox="1">
            <a:spLocks/>
          </p:cNvSpPr>
          <p:nvPr/>
        </p:nvSpPr>
        <p:spPr>
          <a:xfrm>
            <a:off x="88731" y="1158240"/>
            <a:ext cx="12014538" cy="571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45034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044"/>
            <a:ext cx="10515600" cy="524843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Big Data technologies can be used to process and analyze large volumes of weather data in real time.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weather data from multiple sources, processes it using distributed technologies, and displays insights through an interactive dashboard.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Kafka, Apache Spark, and HDFS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can efficiently handle streaming data, detect anomalies, and visualize weather trends.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Big Data platforms can help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monitoring and data-driven decision making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&amp; 2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426770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307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Zaharia, M., et al.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“Apache Spark: A Unified Engine for Big Data Processing.” IEEE.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Kreps, J., Narkhede, N., Rao, J.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“Kafka: A Distributed Messaging System for Log Processing.” LinkedIn Engineering.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Carbone, P.,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Katsifodimos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“Apache Flink and Spark Streaming for Real-Time Data Processing.” IEEE.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Official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https://spark.apache.org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https://kafka.apache.org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https://openweathermap.org/api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07-04-2026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&amp; 2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07-04-2026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1229</Words>
  <Application>Microsoft Office PowerPoint</Application>
  <PresentationFormat>Widescreen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Custom Design</vt:lpstr>
      <vt:lpstr>Distributed Weather Data Processing and Trend Analysis  REVIEW – 1&amp;2  </vt:lpstr>
      <vt:lpstr>OUTLINE</vt:lpstr>
      <vt:lpstr>Introduction</vt:lpstr>
      <vt:lpstr>                              Abstract</vt:lpstr>
      <vt:lpstr>                           Existing System</vt:lpstr>
      <vt:lpstr>                    Proposed Method</vt:lpstr>
      <vt:lpstr>Objectives </vt:lpstr>
      <vt:lpstr>SOFTWARE REQUIREMENTS</vt:lpstr>
      <vt:lpstr>HARDWARE REQUIREMENTS</vt:lpstr>
      <vt:lpstr>FUNCTIONAL REQUIREMENTS</vt:lpstr>
      <vt:lpstr>NON-FUNCTIONAL REQUIREMENTS</vt:lpstr>
      <vt:lpstr>Literature Survey</vt:lpstr>
      <vt:lpstr>Architecture</vt:lpstr>
      <vt:lpstr>Module Design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JEEVANA CHOUDARY</dc:creator>
  <cp:lastModifiedBy>s a</cp:lastModifiedBy>
  <cp:revision>9</cp:revision>
  <dcterms:modified xsi:type="dcterms:W3CDTF">2026-04-07T17:58:08Z</dcterms:modified>
</cp:coreProperties>
</file>