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0" r:id="rId2"/>
  </p:sldMasterIdLst>
  <p:notesMasterIdLst>
    <p:notesMasterId r:id="rId20"/>
  </p:notesMasterIdLst>
  <p:sldIdLst>
    <p:sldId id="256" r:id="rId3"/>
    <p:sldId id="257" r:id="rId4"/>
    <p:sldId id="258" r:id="rId5"/>
    <p:sldId id="266" r:id="rId6"/>
    <p:sldId id="267" r:id="rId7"/>
    <p:sldId id="268" r:id="rId8"/>
    <p:sldId id="259" r:id="rId9"/>
    <p:sldId id="269" r:id="rId10"/>
    <p:sldId id="270" r:id="rId11"/>
    <p:sldId id="271" r:id="rId12"/>
    <p:sldId id="272" r:id="rId13"/>
    <p:sldId id="260" r:id="rId14"/>
    <p:sldId id="261" r:id="rId15"/>
    <p:sldId id="262" r:id="rId16"/>
    <p:sldId id="263" r:id="rId17"/>
    <p:sldId id="264" r:id="rId18"/>
    <p:sldId id="265" r:id="rId19"/>
  </p:sldIdLst>
  <p:sldSz cx="12192000" cy="6858000"/>
  <p:notesSz cx="7102475" cy="9037638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5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5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39788" y="1130300"/>
            <a:ext cx="5422900" cy="30495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349363"/>
            <a:ext cx="5681980" cy="355857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584188"/>
            <a:ext cx="3077739" cy="45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584188"/>
            <a:ext cx="3077739" cy="45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D4DF-21A2-8343-9008-710997EFE372}" type="datetime1">
              <a:rPr lang="en-IN" smtClean="0"/>
              <a:t>06-04-2026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DE8B-8D6B-8C46-B882-6A2CD2BC96F0}" type="datetime1">
              <a:rPr lang="en-IN" smtClean="0"/>
              <a:t>06-04-2026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173D6-3CEE-8F48-B559-8A1AAA479881}" type="datetime1">
              <a:rPr lang="en-IN" smtClean="0"/>
              <a:t>06-04-2026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238AD-5BCA-FB4D-BB92-A9506EB125DE}" type="datetime1">
              <a:rPr lang="en-IN" smtClean="0"/>
              <a:t>06-04-2026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E14E3-1A4B-E147-9C43-AF22F573C146}" type="datetime1">
              <a:rPr lang="en-IN" smtClean="0"/>
              <a:t>06-04-2026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5FDD8-A8EC-434C-9DC5-9C830FFCBBBE}" type="datetime1">
              <a:rPr lang="en-IN" smtClean="0"/>
              <a:t>06-04-2026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649A9-55B9-CC4B-9F14-A826BCB3F81D}" type="datetime1">
              <a:rPr lang="en-IN" smtClean="0"/>
              <a:t>06-04-2026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DB05C-DA09-D54E-BE90-A914E23C1D37}" type="datetime1">
              <a:rPr lang="en-IN" smtClean="0"/>
              <a:t>06-04-2026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2264A-0DD4-554E-9BAF-72F2B974B4C3}" type="datetime1">
              <a:rPr lang="en-IN" smtClean="0"/>
              <a:t>06-04-2026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FDC3-8E95-594C-90F9-D4BFD51367E6}" type="datetime1">
              <a:rPr lang="en-IN" smtClean="0"/>
              <a:t>06-04-2026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2C79A-A4F9-4646-8C8F-7091881D2F89}" type="datetime1">
              <a:rPr lang="en-IN" smtClean="0"/>
              <a:t>06-04-2026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F1655-6176-8843-98F6-F743980649D1}" type="datetime1">
              <a:rPr lang="en-IN" smtClean="0"/>
              <a:t>06-04-2026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23D11-2585-D24D-93CA-1B3685649544}" type="datetime1">
              <a:rPr lang="en-IN" smtClean="0"/>
              <a:t>06-04-2026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EACA4-A1C6-9F4F-978A-D3AE7141A61E}" type="datetime1">
              <a:rPr lang="en-IN" smtClean="0"/>
              <a:t>06-04-2026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10E6-0672-C24B-8BA7-69AD3847874C}" type="datetime1">
              <a:rPr lang="en-IN" smtClean="0"/>
              <a:t>06-04-2026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70737-B6DD-A042-B94C-464B3C8698F2}" type="datetime1">
              <a:rPr lang="en-IN" smtClean="0"/>
              <a:t>06-04-2026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B1E405-5A0A-8F4C-9EC6-8C8112FD4D9F}" type="datetime1">
              <a:rPr lang="en-IN" smtClean="0"/>
              <a:t>06-04-2026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7A86FA-D70B-B047-9EE8-E3556A998703}" type="datetime1">
              <a:rPr lang="en-IN" smtClean="0"/>
              <a:t>06-04-2026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709.03546" TargetMode="External"/><Relationship Id="rId7" Type="http://schemas.openxmlformats.org/officeDocument/2006/relationships/hyperlink" Target="https://link.springer.com/article/10.1007/s00521-020-04762-8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ciencedirect.com/science/article/pii/S1877050917322094" TargetMode="External"/><Relationship Id="rId5" Type="http://schemas.openxmlformats.org/officeDocument/2006/relationships/hyperlink" Target="https://ieeexplore.ieee.org/document/7488251" TargetMode="External"/><Relationship Id="rId4" Type="http://schemas.openxmlformats.org/officeDocument/2006/relationships/hyperlink" Target="https://arxiv.org/abs/1802.00316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kafka.apache.org/" TargetMode="External"/><Relationship Id="rId2" Type="http://schemas.openxmlformats.org/officeDocument/2006/relationships/hyperlink" Target="https://spark.apache.org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hyperlink" Target="https://openweathermap.org/api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519" y="812442"/>
            <a:ext cx="10515600" cy="1065008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Distributed Weather Data Processing and Trend Analysis</a:t>
            </a:r>
            <a:br>
              <a:rPr lang="da-DK" sz="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da-D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– 1&amp;2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74419" y="1877449"/>
            <a:ext cx="10515600" cy="263928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</a:t>
            </a:r>
            <a:endParaRPr lang="en-IN" sz="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IN" sz="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No		Name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2320030207    A. Subash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2320030208    C.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Saisandeep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2320030164     G. Rohith Sai</a:t>
            </a:r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endParaRPr lang="en-US" sz="1400" b="1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23A7-D8E7-1742-AE5C-E3C19725FB52}" type="datetime1">
              <a:rPr lang="en-IN" smtClean="0"/>
              <a:t>06-04-2026</a:t>
            </a:fld>
            <a:endParaRPr lang="en-US"/>
          </a:p>
        </p:txBody>
      </p:sp>
      <p:sp>
        <p:nvSpPr>
          <p:cNvPr id="9" name="Content Placeholder 3"/>
          <p:cNvSpPr txBox="1"/>
          <p:nvPr/>
        </p:nvSpPr>
        <p:spPr>
          <a:xfrm>
            <a:off x="970334" y="5316412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0" name="Content Placeholder 3"/>
          <p:cNvSpPr txBox="1"/>
          <p:nvPr/>
        </p:nvSpPr>
        <p:spPr>
          <a:xfrm>
            <a:off x="1228519" y="3106256"/>
            <a:ext cx="10618341" cy="20226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2400" dirty="0">
              <a:solidFill>
                <a:srgbClr val="00B050"/>
              </a:solidFill>
            </a:endParaRPr>
          </a:p>
          <a:p>
            <a:pPr marL="0" indent="0" algn="just">
              <a:buNone/>
            </a:pP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2400" dirty="0">
                <a:solidFill>
                  <a:srgbClr val="00B050"/>
                </a:solidFill>
              </a:rPr>
              <a:t>Department of Computer Science and Engineering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4315" y="5250931"/>
            <a:ext cx="2175809" cy="103269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215143"/>
            <a:ext cx="10173182" cy="112800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1458411"/>
            <a:ext cx="10515600" cy="508050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06-04-2026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– 2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427DB0-61D3-C1D6-407B-FDF3301D6392}"/>
              </a:ext>
            </a:extLst>
          </p:cNvPr>
          <p:cNvSpPr txBox="1"/>
          <p:nvPr/>
        </p:nvSpPr>
        <p:spPr>
          <a:xfrm>
            <a:off x="513347" y="1572126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8C2B204-E8BD-D196-FD8A-BD9B0A6513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964987"/>
            <a:ext cx="4535817" cy="52369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4522124-E786-BCBD-47AD-A1A7AA1DA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12C2661-5AB9-3306-326F-7FD2F83D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154487"/>
            <a:ext cx="10173182" cy="1128009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8C7DBE-8B58-804A-6C39-91193A7EC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06-04-2026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3D3A6-F1ED-0DAD-DE43-F3A755A78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EFA699-0799-F3B0-1E5B-DEAFB30C5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6246225C-C486-FED1-DA4D-888BE9F6A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  2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3E54372-0C7D-660E-6D34-D9E23359ADC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38198" y="1819533"/>
            <a:ext cx="10173182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Weather data is highly dynamic and generated continuously from multiple global locations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With the increase in real-time weather monitoring, traditional systems cannot process large-scale streaming data efficiently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Big Data technologies enable scalable processing of massive weather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project integrates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Apache Kafka, Apache Spark, and HDFS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build a real-time analytics pipeline capable of: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Collecting live weather data from global city nodes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Streaming and processing real-time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Detecting anomalies and analyzing weather trends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Storing large-scale data in distributed systems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Visualizing weather insights using interactive dashboards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11599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512C-403E-1ACD-6201-0F54C18A6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 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45C05C-64F5-2F73-6DA1-71ACF1BC8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DE8B-8D6B-8C46-B882-6A2CD2BC96F0}" type="datetime1">
              <a:rPr lang="en-IN" smtClean="0"/>
              <a:t>06-04-2026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56B8C-5BCA-2967-20B6-380506996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–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C08C1-E953-E12A-5F29-325F4E230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10F9A1D-2ED6-26FA-9AE5-04C3B7F3EC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1137069"/>
            <a:ext cx="10515600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Weather systems generate massive amounts of real-time environmental data every second. Traditional data processing systems struggle to efficiently analyze this continuous stream of information.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project proposes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Big Data based Weather Data Processing and Trend Analysis System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that uses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Apache Kafka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real-time data streaming,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Apache Spark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distributed data processing,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Hadoop HDFS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scalable data storage.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system collects weather data from APIs such as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OpenWeatherMap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processes the data using Spark Streaming, and performs analytics to detect anomalies and identify weather trends.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system provides insights including: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Temperature trends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Humidity variations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Weather pattern changes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Anomaly detection (extreme conditions)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Interactive dashboards visualize the analytics results using tools like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React and Recharts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helping users understand weather conditions and make informed decisions. </a:t>
            </a:r>
          </a:p>
        </p:txBody>
      </p:sp>
    </p:spTree>
    <p:extLst>
      <p:ext uri="{BB962C8B-B14F-4D97-AF65-F5344CB8AC3E}">
        <p14:creationId xmlns:p14="http://schemas.microsoft.com/office/powerpoint/2010/main" val="939662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A8A7A-EA76-8E92-8310-9CD582080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                      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B92EC-E7D8-0B2E-CA86-9A1E70B72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5FDD8-A8EC-434C-9DC5-9C830FFCBBBE}" type="datetime1">
              <a:rPr lang="en-IN" smtClean="0"/>
              <a:t>06-04-2026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AE64CD-548C-46A3-B748-3B2547D0D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–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805C40-388E-7C4A-BB7A-95BDF1778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16BB8A-7A5E-4B2E-232A-48443D3E8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618734" cy="807928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73F55C91-6833-B9C1-8949-5A2C71E126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999" y="1833719"/>
            <a:ext cx="105156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Traditional weather monitoring systems rely on: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Static historical datasets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Ba</a:t>
            </a:r>
            <a:r>
              <a:rPr lang="en-US" altLang="en-US" sz="2000" dirty="0"/>
              <a:t>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ch processing methods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Manual analysis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Limitations of existing systems: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Lack of real-time data processing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Limited scalability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Slow response time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Inefficient handling of large datasets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Limited capability to detect anomalies and trends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These limitations reduce the effectiveness of real-time weather monitoring and analysis </a:t>
            </a:r>
          </a:p>
        </p:txBody>
      </p:sp>
    </p:spTree>
    <p:extLst>
      <p:ext uri="{BB962C8B-B14F-4D97-AF65-F5344CB8AC3E}">
        <p14:creationId xmlns:p14="http://schemas.microsoft.com/office/powerpoint/2010/main" val="3608890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21FDA-4059-368E-B3C4-3DECC080B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Proposed Method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F99D93-A90F-6CC2-7930-290E23DF2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5FDD8-A8EC-434C-9DC5-9C830FFCBBBE}" type="datetime1">
              <a:rPr lang="en-IN" smtClean="0"/>
              <a:t>06-04-2026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F3EF9F-F3F8-C936-F6AC-088CF4612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–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580E72-2372-1328-6836-6760127F0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957A107-05B0-7FE0-0C43-4C7D22F22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622" y="1390348"/>
            <a:ext cx="10027535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proposed system uses Big Data technologies to analyze weather data in real-time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Key technologies used: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Apache Kafka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Real-time data streaming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Apache Spark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Distributed data processing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Hadoop HDFS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Large-scale data storage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Analytics Models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Anomaly detection and trend analysis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Visualization Tools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Dashboard analytics (React + Recharts)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system processes real-time weather data, performs analysis, detects anomalies, computes trends, and displays insights through interactive dashboards </a:t>
            </a:r>
          </a:p>
        </p:txBody>
      </p:sp>
    </p:spTree>
    <p:extLst>
      <p:ext uri="{BB962C8B-B14F-4D97-AF65-F5344CB8AC3E}">
        <p14:creationId xmlns:p14="http://schemas.microsoft.com/office/powerpoint/2010/main" val="1388554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DF4ED40-408F-6A27-E4F0-6FCB8E7B6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C946B85-3126-D2FB-6BBE-D431774ED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2810" y="482363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r>
              <a:rPr lang="en-IN" dirty="0"/>
              <a:t>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07DCC41-9625-D8BE-ED8E-A41DE68AA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8552"/>
            <a:ext cx="10515600" cy="50029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The main objectives of the project are:</a:t>
            </a:r>
          </a:p>
          <a:p>
            <a:r>
              <a:rPr lang="en-US" sz="2000" dirty="0"/>
              <a:t>Collect real-time weather data from APIs (e.g., OpenWeatherMap) </a:t>
            </a:r>
          </a:p>
          <a:p>
            <a:r>
              <a:rPr lang="en-US" sz="2000" dirty="0"/>
              <a:t>Stream data using </a:t>
            </a:r>
            <a:r>
              <a:rPr lang="en-US" sz="2000" b="1" dirty="0"/>
              <a:t>Apache Kafka</a:t>
            </a:r>
            <a:r>
              <a:rPr lang="en-US" sz="2000" dirty="0"/>
              <a:t> </a:t>
            </a:r>
          </a:p>
          <a:p>
            <a:r>
              <a:rPr lang="en-US" sz="2000" dirty="0"/>
              <a:t>Perform large-scale data processing using </a:t>
            </a:r>
            <a:r>
              <a:rPr lang="en-US" sz="2000" b="1" dirty="0"/>
              <a:t>Apache Spark</a:t>
            </a:r>
            <a:r>
              <a:rPr lang="en-US" sz="2000" dirty="0"/>
              <a:t> </a:t>
            </a:r>
          </a:p>
          <a:p>
            <a:r>
              <a:rPr lang="en-US" sz="2000" dirty="0"/>
              <a:t>Store historical weather data in </a:t>
            </a:r>
            <a:r>
              <a:rPr lang="en-US" sz="2000" b="1" dirty="0"/>
              <a:t>Hadoop HDFS</a:t>
            </a:r>
            <a:r>
              <a:rPr lang="en-US" sz="2000" dirty="0"/>
              <a:t> </a:t>
            </a:r>
          </a:p>
          <a:p>
            <a:r>
              <a:rPr lang="en-US" sz="2000" dirty="0"/>
              <a:t>Generate insights such as temperature trends and humidity variations </a:t>
            </a:r>
          </a:p>
          <a:p>
            <a:r>
              <a:rPr lang="en-US" sz="2000" dirty="0"/>
              <a:t>Detect anomalies in weather conditions </a:t>
            </a:r>
          </a:p>
          <a:p>
            <a:r>
              <a:rPr lang="en-US" sz="2000" dirty="0"/>
              <a:t>Visualize weather data using interactive dashboards </a:t>
            </a:r>
          </a:p>
          <a:p>
            <a:r>
              <a:rPr lang="en-US" sz="2000" dirty="0"/>
              <a:t>Provide real-time weather insights for better analysis and decision-making</a:t>
            </a:r>
          </a:p>
          <a:p>
            <a:pPr marL="0" indent="0"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B615F-134B-83C4-E306-B5062B74B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06-04-2026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B58078-A2DB-3337-E1DB-4073478F1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635B6A2-90DB-9DF8-4F42-DFC3BA3D4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EB56FACB-3BE6-7710-5AF6-30246594A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</a:t>
            </a:r>
          </a:p>
        </p:txBody>
      </p:sp>
    </p:spTree>
    <p:extLst>
      <p:ext uri="{BB962C8B-B14F-4D97-AF65-F5344CB8AC3E}">
        <p14:creationId xmlns:p14="http://schemas.microsoft.com/office/powerpoint/2010/main" val="4008404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C9124-389D-123A-8AFD-72741FC2A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80DAA1-BB6C-8688-F2FC-1EB40F817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5FDD8-A8EC-434C-9DC5-9C830FFCBBBE}" type="datetime1">
              <a:rPr lang="en-IN" smtClean="0"/>
              <a:t>06-04-2026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3C6F8E-B961-F772-0F43-A085F9980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–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1F6E18-E5FB-A709-530D-0B03168B6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7DB09C-3F0C-4D86-BFE8-B9E64F3830C5}"/>
              </a:ext>
            </a:extLst>
          </p:cNvPr>
          <p:cNvSpPr txBox="1"/>
          <p:nvPr/>
        </p:nvSpPr>
        <p:spPr>
          <a:xfrm>
            <a:off x="991565" y="1458706"/>
            <a:ext cx="609407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Programming Languages:</a:t>
            </a:r>
            <a:r>
              <a:rPr lang="en-IN" sz="20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Python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PySpark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Big Data Tools:</a:t>
            </a:r>
            <a:r>
              <a:rPr lang="en-IN" sz="20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Apache Kafka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Apache Spark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Hadoop HDFS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Libraries:</a:t>
            </a:r>
            <a:r>
              <a:rPr lang="en-IN" sz="20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Pandas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NumPy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Frontend / Visualization:</a:t>
            </a:r>
            <a:r>
              <a:rPr lang="en-IN" sz="20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React.js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Recharts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API Integration:</a:t>
            </a:r>
            <a:r>
              <a:rPr lang="en-IN" sz="20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OpenWeatherMap API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69CFEC-160F-9677-2BE1-5625149FC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96"/>
            <a:ext cx="1631092" cy="710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360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C5F3B-1EF5-53E8-7540-2CEF99802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5FBD6-0434-B021-8BD1-F660FE263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sz="2400" b="1" dirty="0"/>
              <a:t>Minimum System Requirements:</a:t>
            </a:r>
            <a:endParaRPr lang="en-IN" sz="2400" dirty="0"/>
          </a:p>
          <a:p>
            <a:r>
              <a:rPr lang="en-IN" sz="2400" b="1" dirty="0"/>
              <a:t>Processor:</a:t>
            </a:r>
            <a:r>
              <a:rPr lang="en-IN" sz="2400" dirty="0"/>
              <a:t> </a:t>
            </a:r>
          </a:p>
          <a:p>
            <a:pPr lvl="1"/>
            <a:r>
              <a:rPr lang="en-IN" dirty="0"/>
              <a:t>Intel i5 or above </a:t>
            </a:r>
          </a:p>
          <a:p>
            <a:r>
              <a:rPr lang="en-IN" sz="2400" b="1" dirty="0"/>
              <a:t>RAM:</a:t>
            </a:r>
            <a:r>
              <a:rPr lang="en-IN" sz="2400" dirty="0"/>
              <a:t> </a:t>
            </a:r>
          </a:p>
          <a:p>
            <a:pPr lvl="1"/>
            <a:r>
              <a:rPr lang="en-IN" dirty="0"/>
              <a:t>Minimum 8 GB </a:t>
            </a:r>
          </a:p>
          <a:p>
            <a:pPr lvl="1"/>
            <a:r>
              <a:rPr lang="en-IN" dirty="0"/>
              <a:t>16 GB recommended for Big Data processing </a:t>
            </a:r>
          </a:p>
          <a:p>
            <a:r>
              <a:rPr lang="en-IN" sz="2400" b="1" dirty="0"/>
              <a:t>Storage:</a:t>
            </a:r>
            <a:r>
              <a:rPr lang="en-IN" sz="2400" dirty="0"/>
              <a:t> </a:t>
            </a:r>
          </a:p>
          <a:p>
            <a:pPr lvl="1"/>
            <a:r>
              <a:rPr lang="en-IN" dirty="0"/>
              <a:t>Minimum 500 GB </a:t>
            </a:r>
          </a:p>
          <a:p>
            <a:r>
              <a:rPr lang="en-IN" sz="2400" b="1" dirty="0"/>
              <a:t>Operating System:</a:t>
            </a:r>
            <a:r>
              <a:rPr lang="en-IN" sz="2400" dirty="0"/>
              <a:t> </a:t>
            </a:r>
          </a:p>
          <a:p>
            <a:pPr lvl="1"/>
            <a:r>
              <a:rPr lang="en-IN" dirty="0"/>
              <a:t>Windows </a:t>
            </a:r>
          </a:p>
          <a:p>
            <a:pPr lvl="1"/>
            <a:r>
              <a:rPr lang="en-IN" dirty="0"/>
              <a:t>Linux (Preferred for Hadoop &amp; Spark) </a:t>
            </a:r>
          </a:p>
          <a:p>
            <a:r>
              <a:rPr lang="en-IN" sz="2400" b="1" dirty="0"/>
              <a:t>Network:</a:t>
            </a:r>
            <a:r>
              <a:rPr lang="en-IN" sz="2400" dirty="0"/>
              <a:t> </a:t>
            </a:r>
          </a:p>
          <a:p>
            <a:pPr lvl="1"/>
            <a:r>
              <a:rPr lang="en-IN" dirty="0"/>
              <a:t>Stable internet connection for real-time weather data collection (API access)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88B45-E79A-0446-AEEE-82F244191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DE8B-8D6B-8C46-B882-6A2CD2BC96F0}" type="datetime1">
              <a:rPr lang="en-IN" smtClean="0"/>
              <a:t>06-04-2026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0332F-592D-75B5-88C6-A20F38704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–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FD815-D741-2215-85D7-D763D5428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705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6EC8B-7373-0670-E51D-5EFF9C8DF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DE3FA-21D6-5F28-2FCB-DAF435C6C0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The system must perform the following functions:</a:t>
            </a:r>
          </a:p>
          <a:p>
            <a:r>
              <a:rPr lang="en-US" dirty="0"/>
              <a:t>Collect real-time weather data from APIs (e.g., OpenWeatherMap) </a:t>
            </a:r>
          </a:p>
          <a:p>
            <a:r>
              <a:rPr lang="en-US" dirty="0"/>
              <a:t>Stream data using </a:t>
            </a:r>
            <a:r>
              <a:rPr lang="en-US" b="1" dirty="0"/>
              <a:t>Apache Kafka</a:t>
            </a:r>
            <a:r>
              <a:rPr lang="en-US" dirty="0"/>
              <a:t> </a:t>
            </a:r>
          </a:p>
          <a:p>
            <a:r>
              <a:rPr lang="en-US" dirty="0"/>
              <a:t>Process streaming data using </a:t>
            </a:r>
            <a:r>
              <a:rPr lang="en-US" b="1" dirty="0"/>
              <a:t>Apache Spark</a:t>
            </a:r>
            <a:r>
              <a:rPr lang="en-US" dirty="0"/>
              <a:t> </a:t>
            </a:r>
          </a:p>
          <a:p>
            <a:r>
              <a:rPr lang="en-US" dirty="0"/>
              <a:t>Store processed data in </a:t>
            </a:r>
            <a:r>
              <a:rPr lang="en-US" b="1" dirty="0"/>
              <a:t>Hadoop HDFS</a:t>
            </a:r>
            <a:r>
              <a:rPr lang="en-US" dirty="0"/>
              <a:t> </a:t>
            </a:r>
          </a:p>
          <a:p>
            <a:r>
              <a:rPr lang="en-US" dirty="0"/>
              <a:t>Clean and preprocess weather data </a:t>
            </a:r>
          </a:p>
          <a:p>
            <a:r>
              <a:rPr lang="en-US" dirty="0"/>
              <a:t>Generate analytics insights (temperature, humidity, trends) </a:t>
            </a:r>
          </a:p>
          <a:p>
            <a:r>
              <a:rPr lang="en-US" dirty="0"/>
              <a:t>Detect anomalies in weather conditions </a:t>
            </a:r>
          </a:p>
          <a:p>
            <a:r>
              <a:rPr lang="en-US" dirty="0"/>
              <a:t>Display results through interactive dashboards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87850F-E227-6A4B-77B0-D6A809722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DE8B-8D6B-8C46-B882-6A2CD2BC96F0}" type="datetime1">
              <a:rPr lang="en-IN" smtClean="0"/>
              <a:t>06-04-2026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299D1-4A05-62ED-A719-DE21853F5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–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58313-5414-327C-5B1D-E74F8234F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018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505DC-A25B-49EB-DD2D-3DA3A5C8B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REQUIREMENTS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9FC27F-8FCB-DA29-7E14-49F22F6D0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DE8B-8D6B-8C46-B882-6A2CD2BC96F0}" type="datetime1">
              <a:rPr lang="en-IN" smtClean="0"/>
              <a:t>06-04-2026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CFD812-D07B-CB48-D256-14DD937CD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–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3EE6B-AF5C-8A72-7E8B-5CA68FCCF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F406C32-06BD-7EC2-0724-569CCD2FF9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85302"/>
            <a:ext cx="10515600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Scalability: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system must handle large volumes of real-time weather data from multiple locations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Performance: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system should efficiently process streaming weather data with low latency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Reliability: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 processing pipelines must ensure accurate and consistent results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Availability: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system should run continuously to support real-time weather monitoring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Security: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Secure API access and data protection mechanisms should be implemented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003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2205BF8-E8B4-C589-5006-CAF232FB4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15234DD-6ED1-D656-1294-FA28B66E4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183" y="0"/>
            <a:ext cx="10173182" cy="690465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0130AF-494E-777F-45AE-C50709DBF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06-04-2026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301E54-71CD-371A-5333-489712DC6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E32AD9-12A7-7C40-05A0-8D056D196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AEA843F7-8A62-A540-2018-E141BD34A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1  </a:t>
            </a:r>
          </a:p>
        </p:txBody>
      </p:sp>
      <p:graphicFrame>
        <p:nvGraphicFramePr>
          <p:cNvPr id="3" name="Content Placeholder 6">
            <a:extLst>
              <a:ext uri="{FF2B5EF4-FFF2-40B4-BE49-F238E27FC236}">
                <a16:creationId xmlns:a16="http://schemas.microsoft.com/office/drawing/2014/main" id="{9E0910E8-64C1-D3C8-E650-99B21DBB42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3422444"/>
              </p:ext>
            </p:extLst>
          </p:nvPr>
        </p:nvGraphicFramePr>
        <p:xfrm>
          <a:off x="0" y="690467"/>
          <a:ext cx="12000215" cy="6265256"/>
        </p:xfrm>
        <a:graphic>
          <a:graphicData uri="http://schemas.openxmlformats.org/drawingml/2006/table">
            <a:tbl>
              <a:tblPr/>
              <a:tblGrid>
                <a:gridCol w="2963493">
                  <a:extLst>
                    <a:ext uri="{9D8B030D-6E8A-4147-A177-3AD203B41FA5}">
                      <a16:colId xmlns:a16="http://schemas.microsoft.com/office/drawing/2014/main" val="2914338365"/>
                    </a:ext>
                  </a:extLst>
                </a:gridCol>
                <a:gridCol w="3339228">
                  <a:extLst>
                    <a:ext uri="{9D8B030D-6E8A-4147-A177-3AD203B41FA5}">
                      <a16:colId xmlns:a16="http://schemas.microsoft.com/office/drawing/2014/main" val="84625793"/>
                    </a:ext>
                  </a:extLst>
                </a:gridCol>
                <a:gridCol w="2685253">
                  <a:extLst>
                    <a:ext uri="{9D8B030D-6E8A-4147-A177-3AD203B41FA5}">
                      <a16:colId xmlns:a16="http://schemas.microsoft.com/office/drawing/2014/main" val="2110254283"/>
                    </a:ext>
                  </a:extLst>
                </a:gridCol>
                <a:gridCol w="3012241">
                  <a:extLst>
                    <a:ext uri="{9D8B030D-6E8A-4147-A177-3AD203B41FA5}">
                      <a16:colId xmlns:a16="http://schemas.microsoft.com/office/drawing/2014/main" val="671031542"/>
                    </a:ext>
                  </a:extLst>
                </a:gridCol>
              </a:tblGrid>
              <a:tr h="316639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336" marR="47336" marT="23668" marB="236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 Link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336" marR="47336" marT="23668" marB="236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Drawback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336" marR="47336" marT="23668" marB="236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Future Work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336" marR="47336" marT="23668" marB="236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4944730"/>
                  </a:ext>
                </a:extLst>
              </a:tr>
              <a:tr h="1170179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Weather Monitoring Using Distributed Systems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336" marR="47336" marT="23668" marB="236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/>
                        </a:rPr>
                        <a:t>https://arxiv.org/abs/1709.03546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336" marR="47336" marT="23668" marB="236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latency due to centralized data collection and lack of real-time stream processing.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 be extended using distributed streaming frameworks like Kafka for low-latency ingestion.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5255332"/>
                  </a:ext>
                </a:extLst>
              </a:tr>
              <a:tr h="11701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Apache Spark for Large-Scale Weather Data Processing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hlinkClick r:id="rId4"/>
                        </a:rPr>
                        <a:t>https://arxiv.org/abs/1802.00316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high memory resources and complex cluster configuration for weather datasets.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Optimization using cloud-based deployment and auto-scaling Spark clusters.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4315708"/>
                  </a:ext>
                </a:extLst>
              </a:tr>
              <a:tr h="1170179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Big Data Analytics for Climate and Weather Patterns</a:t>
                      </a:r>
                      <a:endParaRPr lang="da-DK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336" marR="47336" marT="23668" marB="236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/>
                        </a:rPr>
                        <a:t>https://ieeexplore.ieee.org/document/7488251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336" marR="47336" marT="23668" marB="236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to historical data analysis and lacks real-time anomaly detection capabilities.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Integration with live weather streams for dynamic trend and anomaly analysis.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0724141"/>
                  </a:ext>
                </a:extLst>
              </a:tr>
              <a:tr h="1170179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Distributed Sensor Data Processing Using Hadoop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336" marR="47336" marT="23668" marB="236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6"/>
                        </a:rPr>
                        <a:t>https://www.sciencedirect.com/science/article/pii/S1877050917322094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336" marR="47336" marT="23668" marB="236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Scalability issues when handling high-velocity data from multiple sensor nodes simultaneously.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Adoption of distributed streaming platforms for continuous weather data ingestion.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065698"/>
                  </a:ext>
                </a:extLst>
              </a:tr>
              <a:tr h="1170179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Weather Anomaly Detection Using Machine Learning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336" marR="47336" marT="23668" marB="236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7"/>
                        </a:rPr>
                        <a:t>https://link.springer.com/article/10.1007/s00521-020-04762-8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336" marR="47336" marT="23668" marB="236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 model design and high computational cost for real-time anomaly classification.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Simplified architectures with intelligent real-time anomaly detection and severity classification.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63437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0881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B54B581-3E21-4B4E-2A35-F67D3096E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48C83F0-76BD-4B96-85D5-C1FAD7356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297007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E4C048-DC99-8545-9D85-18D18CC66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06-04-2026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5A645B-E9B2-A17C-A19D-59B4792D4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13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7B1205-708D-AB89-EA58-78AFC93D2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2201DB43-9F00-00F7-5CD5-CA9274B82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DD3ECD-D4F4-1058-D206-5201BBE8C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288491"/>
            <a:ext cx="10287000" cy="5432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3403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2C7D688-871F-CFE8-3EFB-2BBFC942F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465BC6B-ACEF-FABD-97D9-3F740AFEA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223709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Design 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C3B3BB6-B8AE-DAF9-28DD-AC2C386913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6327" y="1128297"/>
            <a:ext cx="10059346" cy="5451475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766324-58AB-8C24-3FA5-CA8446FB0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06-04-2026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B3A364-68CB-FD95-0846-F866F5F20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14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BA0F1E-63D2-5C99-0AEF-AE9D06F3E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3B7B457D-38E8-2C64-57F5-E01DF1762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REVIEW-2</a:t>
            </a:r>
          </a:p>
        </p:txBody>
      </p:sp>
      <p:sp>
        <p:nvSpPr>
          <p:cNvPr id="4" name="Content Placeholder 8">
            <a:extLst>
              <a:ext uri="{FF2B5EF4-FFF2-40B4-BE49-F238E27FC236}">
                <a16:creationId xmlns:a16="http://schemas.microsoft.com/office/drawing/2014/main" id="{CB451393-98ED-BDA8-C5E5-DF29C79A359A}"/>
              </a:ext>
            </a:extLst>
          </p:cNvPr>
          <p:cNvSpPr txBox="1">
            <a:spLocks/>
          </p:cNvSpPr>
          <p:nvPr/>
        </p:nvSpPr>
        <p:spPr>
          <a:xfrm>
            <a:off x="88731" y="1158240"/>
            <a:ext cx="12014538" cy="57174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00413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B93719B-A971-677D-DB3E-3F30ECAA3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709CC97-A85F-7FE9-127B-D9A3D4338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45034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E914A49-19F6-51A2-7E86-293A52774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044"/>
            <a:ext cx="10515600" cy="5248432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how Big Data technologies can be used to process and analyze large volumes of weather data in real time.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collects weather data from multiple sources, processes it using distributed technologies, and displays insights through an interactive dashboard.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tools like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Kafka, Apache Spark, and HDFS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system can efficiently handle streaming data, detect anomalies, and visualize weather trends.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shows how Big Data platforms can help in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environmental monitoring and data-driven decision making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B060C3-9089-9B01-F1D8-C97A09A97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06-04-2026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4082E4-0E3A-87DB-D567-ED1D0DBED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15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64F053-0075-BD19-F8FF-9AAA1B647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187A4474-F3F0-CAB1-93F1-9BF4015FB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</a:t>
            </a:r>
          </a:p>
        </p:txBody>
      </p:sp>
    </p:spTree>
    <p:extLst>
      <p:ext uri="{BB962C8B-B14F-4D97-AF65-F5344CB8AC3E}">
        <p14:creationId xmlns:p14="http://schemas.microsoft.com/office/powerpoint/2010/main" val="7164636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8D4C0B0-C70A-1972-492E-60B0E7541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E10373E-14B1-432C-6627-5102E701E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426770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20347CC-6603-A42B-AFAE-07AE7DD49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4307"/>
            <a:ext cx="10515600" cy="50029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Papers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Zaharia, M., et al.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“Apache Spark: A Unified Engine for Big Data Processing.” IEEE.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Kreps, J., Narkhede, N., Rao, J.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“Kafka: A Distributed Messaging System for Log Processing.” LinkedIn Engineering.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Carbone, P.,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Katsifodimos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“Apache Flink and Spark Streaming for Real-Time Data Processing.” IEEE.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Spark Official Documentation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https://spark.apache.org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Kafka Documentation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https://kafka.apache.org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OpenWeatherMap API Documentation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https://openweathermap.org/api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CF12D2-F1DB-33DA-F2D4-36035A1EB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06-04-2026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93559-19B2-50D7-BD0E-0D82C2ADB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16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19C462-DC64-15A1-C950-8DE0A02020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792543A9-D42E-FC1A-73CD-75569187C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</a:t>
            </a:r>
          </a:p>
        </p:txBody>
      </p:sp>
    </p:spTree>
    <p:extLst>
      <p:ext uri="{BB962C8B-B14F-4D97-AF65-F5344CB8AC3E}">
        <p14:creationId xmlns:p14="http://schemas.microsoft.com/office/powerpoint/2010/main" val="21169825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E9514-8A25-AD4E-B103-05AD99471A79}" type="datetime1">
              <a:rPr lang="en-IN" smtClean="0"/>
              <a:t>06-04-2026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17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AB03FB2E-4E33-CA9A-E5FC-A215D8D28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1201</Words>
  <Application>Microsoft Office PowerPoint</Application>
  <PresentationFormat>Widescreen</PresentationFormat>
  <Paragraphs>219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Office Theme</vt:lpstr>
      <vt:lpstr>Custom Design</vt:lpstr>
      <vt:lpstr>Distributed Weather Data Processing and Trend Analysis  REVIEW – 1&amp;2  </vt:lpstr>
      <vt:lpstr>OUTLINE</vt:lpstr>
      <vt:lpstr>Introduction</vt:lpstr>
      <vt:lpstr>                              Abstract</vt:lpstr>
      <vt:lpstr>                           Existing System</vt:lpstr>
      <vt:lpstr>                    Proposed Method</vt:lpstr>
      <vt:lpstr>Objectives </vt:lpstr>
      <vt:lpstr>SOFTWARE REQUIREMENTS</vt:lpstr>
      <vt:lpstr>HARDWARE REQUIREMENTS</vt:lpstr>
      <vt:lpstr>FUNCTIONAL REQUIREMENTS</vt:lpstr>
      <vt:lpstr>NON-FUNCTIONAL REQUIREMENTS</vt:lpstr>
      <vt:lpstr>Literature Survey</vt:lpstr>
      <vt:lpstr>Architecture</vt:lpstr>
      <vt:lpstr>Module Design 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JEEVANA CHOUDARY</dc:creator>
  <cp:lastModifiedBy>s a</cp:lastModifiedBy>
  <cp:revision>9</cp:revision>
  <dcterms:modified xsi:type="dcterms:W3CDTF">2026-04-06T15:47:22Z</dcterms:modified>
</cp:coreProperties>
</file>